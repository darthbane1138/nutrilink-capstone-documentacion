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12192000"/>
  <p:embeddedFontLst>
    <p:embeddedFont>
      <p:font typeface="Paytone One"/>
      <p:regular r:id="rId21"/>
    </p:embeddedFont>
    <p:embeddedFont>
      <p:font typeface="Outfit"/>
      <p:regular r:id="rId22"/>
      <p:bold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7+U7nEbGma2xKTEMhEuwXAZ0xo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PABLO ANDRES CASTRO ESPIN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9170A0-2912-4158-A17F-A406AF748BA2}">
  <a:tblStyle styleId="{C69170A0-2912-4158-A17F-A406AF748BA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utfit-regular.fntdata"/><Relationship Id="rId21" Type="http://schemas.openxmlformats.org/officeDocument/2006/relationships/font" Target="fonts/PaytoneOne-regular.fntdata"/><Relationship Id="rId24" Type="http://schemas.openxmlformats.org/officeDocument/2006/relationships/font" Target="fonts/DMSans-regular.fntdata"/><Relationship Id="rId23" Type="http://schemas.openxmlformats.org/officeDocument/2006/relationships/font" Target="fonts/Outfi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customschemas.google.com/relationships/presentationmetadata" Target="meta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16T23:25:55.970">
    <p:pos x="3432" y="1311"/>
    <p:text>esto no lo veo factible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lyNp3c"/>
      </p:ext>
    </p:extLst>
  </p:cm>
  <p:cm authorId="0" idx="2" dt="2026-08-18T16:56:04.705">
    <p:pos x="3432" y="1411"/>
    <p:text>podría jugar en contra de la calidad de la atención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E_1G860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Comparación de partida: NutriLink parte de una base construida (50%); Denti-Check se construye desde cero.</a:t>
            </a:r>
            <a:endParaRPr/>
          </a:p>
        </p:txBody>
      </p:sp>
      <p:sp>
        <p:nvSpPr>
          <p:cNvPr id="16" name="Google Shape;1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NutriLink conecta a nutricionistas (independientes y dependientes) con sus pacientes.</a:t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74f1b4808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g3f74f1b4808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NutriLink conecta a nutricionistas (independientes y dependientes) con sus pacientes.</a:t>
            </a:r>
            <a:endParaRPr/>
          </a:p>
        </p:txBody>
      </p:sp>
      <p:sp>
        <p:nvSpPr>
          <p:cNvPr id="44" name="Google Shape;44;g3f74f1b4808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Lógica de negocio centralizada en la base de datos mediante PL/pgSQL.</a:t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construido es la base; el capstone agrega IA, telemedicina, pagos y nuevos nichos.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Implementación de camara con alguna función (idea)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Denti-Check apunta a odontólogos y centros de radiodiagnóstico maxilofacial.</a:t>
            </a:r>
            <a:endParaRPr/>
          </a:p>
        </p:txBody>
      </p:sp>
      <p:sp>
        <p:nvSpPr>
          <p:cNvPr id="95" name="Google Shape;9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motor de IA vive junto a la API en Python; la base de datos y la API se alojan en Railway.</a:t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app móvil replica el entorno clínico y agrega captura fotográfica del negatoscopio.</a:t>
            </a:r>
            <a:endParaRPr/>
          </a:p>
        </p:txBody>
      </p:sp>
      <p:sp>
        <p:nvSpPr>
          <p:cNvPr id="121" name="Google Shape;1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captura se envía al backend, la red neuronal la analiza y el resultado vuelve dibujado sobre la imagen.</a:t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9a74d5901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f9a74d5901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captura se envía al backend, la red neuronal la analiza y el resultado vuelve dibujado sobre la imagen.</a:t>
            </a:r>
            <a:endParaRPr/>
          </a:p>
        </p:txBody>
      </p:sp>
      <p:sp>
        <p:nvSpPr>
          <p:cNvPr id="167" name="Google Shape;167;g3f9a74d5901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núcleo del capstone es el modelo YOLO; alrededor quedan las líneas de proyección futura.</a:t>
            </a:r>
            <a:endParaRPr/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Ambas propuestas comparten PostgreSQL e Ionic; difieren en el motor central y el frontend web.</a:t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Cuadro comparativo final para decidir entre ambas propuestas.</a:t>
            </a:r>
            <a:endParaRPr/>
          </a:p>
        </p:txBody>
      </p:sp>
      <p:sp>
        <p:nvSpPr>
          <p:cNvPr id="202" name="Google Shape;20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10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068"/>
            <a:ext cx="12192001" cy="679986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11192806" y="6593305"/>
            <a:ext cx="999194" cy="2356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6D6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457200" y="502920"/>
            <a:ext cx="11247120" cy="2651760"/>
          </a:xfrm>
          <a:prstGeom prst="roundRect">
            <a:avLst>
              <a:gd fmla="val 4138" name="adj"/>
            </a:avLst>
          </a:prstGeom>
          <a:solidFill>
            <a:srgbClr val="DEECDB"/>
          </a:solidFill>
          <a:ln cap="flat" cmpd="sng" w="12700">
            <a:solidFill>
              <a:srgbClr val="9B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914400" y="86868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442A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17442A"/>
                </a:solidFill>
                <a:latin typeface="Arial"/>
                <a:ea typeface="Arial"/>
                <a:cs typeface="Arial"/>
                <a:sym typeface="Arial"/>
              </a:rPr>
              <a:t>NutriLink: </a:t>
            </a:r>
            <a:r>
              <a:rPr lang="en-US" sz="2500">
                <a:solidFill>
                  <a:srgbClr val="1D3B26"/>
                </a:solidFill>
                <a:latin typeface="Arial"/>
                <a:ea typeface="Arial"/>
                <a:cs typeface="Arial"/>
                <a:sym typeface="Arial"/>
              </a:rPr>
              <a:t>Nutrición inteligente más allá del consultorio.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914401" y="1952864"/>
            <a:ext cx="1952368" cy="320040"/>
          </a:xfrm>
          <a:prstGeom prst="roundRect">
            <a:avLst>
              <a:gd fmla="val 50000" name="adj"/>
            </a:avLst>
          </a:prstGeom>
          <a:solidFill>
            <a:srgbClr val="FBE9B4"/>
          </a:solidFill>
          <a:ln cap="flat" cmpd="sng" w="12700">
            <a:solidFill>
              <a:srgbClr val="F0D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Evolución de proyecto existente</a:t>
            </a:r>
            <a:endParaRPr sz="10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537960" y="1691640"/>
            <a:ext cx="4617720" cy="42062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9B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6537950" y="1691650"/>
            <a:ext cx="2304300" cy="420600"/>
          </a:xfrm>
          <a:prstGeom prst="roundRect">
            <a:avLst>
              <a:gd fmla="val 50000" name="adj"/>
            </a:avLst>
          </a:prstGeom>
          <a:solidFill>
            <a:srgbClr val="5FA23C"/>
          </a:solidFill>
          <a:ln cap="flat" cmpd="sng" w="12700">
            <a:solidFill>
              <a:srgbClr val="4C8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8092440" y="120700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2"/>
          <p:cNvCxnSpPr/>
          <p:nvPr/>
        </p:nvCxnSpPr>
        <p:spPr>
          <a:xfrm>
            <a:off x="8842248" y="2212848"/>
            <a:ext cx="0" cy="201168"/>
          </a:xfrm>
          <a:prstGeom prst="straightConnector1">
            <a:avLst/>
          </a:prstGeom>
          <a:noFill/>
          <a:ln cap="flat" cmpd="sng" w="12700">
            <a:solidFill>
              <a:srgbClr val="6B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2"/>
          <p:cNvSpPr/>
          <p:nvPr/>
        </p:nvSpPr>
        <p:spPr>
          <a:xfrm>
            <a:off x="8942832" y="221284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Base Construida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3611880"/>
            <a:ext cx="11247120" cy="2651760"/>
          </a:xfrm>
          <a:prstGeom prst="roundRect">
            <a:avLst>
              <a:gd fmla="val 4138" name="adj"/>
            </a:avLst>
          </a:prstGeom>
          <a:solidFill>
            <a:srgbClr val="DCEBF7"/>
          </a:solidFill>
          <a:ln cap="flat" cmpd="sng" w="12700">
            <a:solidFill>
              <a:srgbClr val="8FB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914400" y="397764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F5C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D2F5C"/>
                </a:solidFill>
                <a:latin typeface="Arial"/>
                <a:ea typeface="Arial"/>
                <a:cs typeface="Arial"/>
                <a:sym typeface="Arial"/>
              </a:rPr>
              <a:t>Denti-Check:</a:t>
            </a:r>
            <a:br>
              <a:rPr b="1" lang="en-US" sz="2500">
                <a:solidFill>
                  <a:srgbClr val="0D2F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500">
                <a:solidFill>
                  <a:srgbClr val="16324D"/>
                </a:solidFill>
                <a:latin typeface="Arial"/>
                <a:ea typeface="Arial"/>
                <a:cs typeface="Arial"/>
                <a:sym typeface="Arial"/>
              </a:rPr>
              <a:t>Diagnóstico temprano de caries mediante IA.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914400" y="5394960"/>
            <a:ext cx="2743200" cy="47548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15A1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914400" y="539496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6E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E6E70"/>
                </a:solidFill>
                <a:latin typeface="Calibri"/>
                <a:ea typeface="Calibri"/>
                <a:cs typeface="Calibri"/>
                <a:sym typeface="Calibri"/>
              </a:rPr>
              <a:t>Innovación desde cero.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537960" y="4800600"/>
            <a:ext cx="4617720" cy="42062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8FB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6656832" y="5321808"/>
            <a:ext cx="0" cy="201168"/>
          </a:xfrm>
          <a:prstGeom prst="straightConnector1">
            <a:avLst/>
          </a:prstGeom>
          <a:noFill/>
          <a:ln cap="flat" cmpd="sng" w="12700">
            <a:solidFill>
              <a:srgbClr val="6B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6757416" y="532180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Desarrollo desde cero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1" y="2309480"/>
            <a:ext cx="1952368" cy="320040"/>
          </a:xfrm>
          <a:prstGeom prst="roundRect">
            <a:avLst>
              <a:gd fmla="val 50000" name="adj"/>
            </a:avLst>
          </a:prstGeom>
          <a:solidFill>
            <a:srgbClr val="FBE9B4"/>
          </a:solidFill>
          <a:ln cap="flat" cmpd="sng" w="12700">
            <a:solidFill>
              <a:srgbClr val="F0D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Crecimiento iterativo</a:t>
            </a:r>
            <a:endParaRPr sz="10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3"/>
          <p:cNvPicPr preferRelativeResize="0"/>
          <p:nvPr/>
        </p:nvPicPr>
        <p:blipFill rotWithShape="1">
          <a:blip r:embed="rId3">
            <a:alphaModFix/>
          </a:blip>
          <a:srcRect b="700" l="0" r="0" t="-700"/>
          <a:stretch/>
        </p:blipFill>
        <p:spPr>
          <a:xfrm>
            <a:off x="0" y="134648"/>
            <a:ext cx="12191999" cy="658870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 txBox="1"/>
          <p:nvPr/>
        </p:nvSpPr>
        <p:spPr>
          <a:xfrm>
            <a:off x="2564825" y="4644725"/>
            <a:ext cx="2485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Cambiar a metodología ágil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g3f74f1b4808_0_1"/>
          <p:cNvPicPr preferRelativeResize="0"/>
          <p:nvPr/>
        </p:nvPicPr>
        <p:blipFill rotWithShape="1">
          <a:blip r:embed="rId3">
            <a:alphaModFix/>
          </a:blip>
          <a:srcRect b="705" l="40783" r="0" t="24248"/>
          <a:stretch/>
        </p:blipFill>
        <p:spPr>
          <a:xfrm>
            <a:off x="4972049" y="1778575"/>
            <a:ext cx="7219948" cy="494477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f74f1b4808_0_1"/>
          <p:cNvSpPr/>
          <p:nvPr/>
        </p:nvSpPr>
        <p:spPr>
          <a:xfrm>
            <a:off x="566928" y="365760"/>
            <a:ext cx="11064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b="1" lang="en-US" sz="3800">
                <a:solidFill>
                  <a:srgbClr val="12401F"/>
                </a:solidFill>
              </a:rPr>
              <a:t>Nutrilink: El ecosistema nutricional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f74f1b4808_0_1"/>
          <p:cNvSpPr/>
          <p:nvPr/>
        </p:nvSpPr>
        <p:spPr>
          <a:xfrm>
            <a:off x="566925" y="1781600"/>
            <a:ext cx="3972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b="1" lang="en-US" sz="2000">
                <a:solidFill>
                  <a:srgbClr val="12401F"/>
                </a:solidFill>
              </a:rPr>
              <a:t>Propósito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f74f1b4808_0_1"/>
          <p:cNvSpPr/>
          <p:nvPr/>
        </p:nvSpPr>
        <p:spPr>
          <a:xfrm>
            <a:off x="566925" y="2297300"/>
            <a:ext cx="3972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Plataforma integral de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r>
              <a:rPr lang="en-US" sz="1600">
                <a:solidFill>
                  <a:schemeClr val="dk1"/>
                </a:solidFill>
              </a:rPr>
              <a:t>atención nutricional digital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f74f1b4808_0_1"/>
          <p:cNvSpPr/>
          <p:nvPr/>
        </p:nvSpPr>
        <p:spPr>
          <a:xfrm>
            <a:off x="566925" y="2813000"/>
            <a:ext cx="3972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b="1" lang="en-US" sz="2000">
                <a:solidFill>
                  <a:srgbClr val="12401F"/>
                </a:solidFill>
              </a:rPr>
              <a:t>Metodología de desarrollo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f74f1b4808_0_1"/>
          <p:cNvSpPr/>
          <p:nvPr/>
        </p:nvSpPr>
        <p:spPr>
          <a:xfrm>
            <a:off x="566925" y="3328700"/>
            <a:ext cx="3972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SCRUM: Desarrollo iterativo con sprints semanales y ceremonias weekly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f74f1b4808_0_1"/>
          <p:cNvSpPr/>
          <p:nvPr/>
        </p:nvSpPr>
        <p:spPr>
          <a:xfrm>
            <a:off x="566925" y="3844400"/>
            <a:ext cx="3972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b="1" lang="en-US" sz="2000">
                <a:solidFill>
                  <a:srgbClr val="12401F"/>
                </a:solidFill>
              </a:rPr>
              <a:t>Punto de partida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f74f1b4808_0_1"/>
          <p:cNvSpPr/>
          <p:nvPr/>
        </p:nvSpPr>
        <p:spPr>
          <a:xfrm>
            <a:off x="566925" y="4360100"/>
            <a:ext cx="3972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Proyecto de portafolio con funcionalidades mínimas de plataforma web y móvil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f74f1b4808_0_1"/>
          <p:cNvSpPr/>
          <p:nvPr/>
        </p:nvSpPr>
        <p:spPr>
          <a:xfrm>
            <a:off x="566925" y="4972775"/>
            <a:ext cx="3972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b="1" lang="en-US" sz="2000">
                <a:solidFill>
                  <a:srgbClr val="12401F"/>
                </a:solidFill>
              </a:rPr>
              <a:t>Desafíos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74f1b4808_0_1"/>
          <p:cNvSpPr/>
          <p:nvPr/>
        </p:nvSpPr>
        <p:spPr>
          <a:xfrm>
            <a:off x="566925" y="5488475"/>
            <a:ext cx="3972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Escalar funcionalidades, refactorizar, mejora continua, e integración de elementos y funcionalidades distintas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566928" y="114300"/>
            <a:ext cx="11064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Arquitectura Actual NutriLink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4"/>
          <p:cNvCxnSpPr/>
          <p:nvPr/>
        </p:nvCxnSpPr>
        <p:spPr>
          <a:xfrm>
            <a:off x="5306921" y="1551588"/>
            <a:ext cx="0" cy="4297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3" name="Google Shape;63;p4"/>
          <p:cNvGraphicFramePr/>
          <p:nvPr/>
        </p:nvGraphicFramePr>
        <p:xfrm>
          <a:off x="5791805" y="20494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{C69170A0-2912-4158-A17F-A406AF748BA2}</a:tableStyleId>
              </a:tblPr>
              <a:tblGrid>
                <a:gridCol w="1310275"/>
                <a:gridCol w="1467325"/>
                <a:gridCol w="1285100"/>
                <a:gridCol w="1575475"/>
              </a:tblGrid>
              <a:tr h="55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Paytone One"/>
                        <a:ea typeface="Paytone One"/>
                        <a:cs typeface="Paytone One"/>
                        <a:sym typeface="Paytone On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Outfit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Tecnología</a:t>
                      </a:r>
                      <a:endParaRPr b="1" sz="19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Outfit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IDE/GUI</a:t>
                      </a:r>
                      <a:endParaRPr b="1" sz="19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Outfit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Alojamiento</a:t>
                      </a:r>
                      <a:endParaRPr b="1" sz="19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6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DM Sans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100575" marL="100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DM Sans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</a:t>
                      </a:r>
                      <a:endParaRPr/>
                    </a:p>
                  </a:txBody>
                  <a:tcPr marT="91425" marB="91425" marR="100575" marL="100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DM Sans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 móvil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</a:t>
                      </a:r>
                      <a:endParaRPr sz="18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100575" marL="100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DM Sans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API Rest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100575" marL="100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DM Sans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Base de datos</a:t>
                      </a:r>
                      <a:endParaRPr sz="18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4" name="Google Shape;64;p4"/>
          <p:cNvPicPr preferRelativeResize="0"/>
          <p:nvPr/>
        </p:nvPicPr>
        <p:blipFill rotWithShape="1">
          <a:blip r:embed="rId3">
            <a:alphaModFix/>
          </a:blip>
          <a:srcRect b="6551" l="22275" r="21675" t="6802"/>
          <a:stretch/>
        </p:blipFill>
        <p:spPr>
          <a:xfrm>
            <a:off x="7514314" y="2624778"/>
            <a:ext cx="56793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4870" y="3348354"/>
            <a:ext cx="567925" cy="567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4"/>
          <p:cNvPicPr preferRelativeResize="0"/>
          <p:nvPr/>
        </p:nvPicPr>
        <p:blipFill rotWithShape="1">
          <a:blip r:embed="rId5">
            <a:alphaModFix/>
          </a:blip>
          <a:srcRect b="15800" l="7641" r="10379" t="6632"/>
          <a:stretch/>
        </p:blipFill>
        <p:spPr>
          <a:xfrm>
            <a:off x="7342374" y="4110928"/>
            <a:ext cx="904699" cy="48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0765" y="4730036"/>
            <a:ext cx="567925" cy="58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7354" y="4715370"/>
            <a:ext cx="567926" cy="56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19509" y="3348354"/>
            <a:ext cx="567925" cy="567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lway Trust Center | Powered by SafeBase" id="70" name="Google Shape;7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42509" y="4172712"/>
            <a:ext cx="1339210" cy="367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lway Trust Center | Powered by SafeBase" id="71" name="Google Shape;7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42509" y="4839266"/>
            <a:ext cx="1339210" cy="367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1166" y="1889985"/>
            <a:ext cx="4542650" cy="3621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566928" y="365760"/>
            <a:ext cx="11064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01F"/>
              </a:buClr>
              <a:buSzPts val="3100"/>
              <a:buFont typeface="Arial"/>
              <a:buNone/>
            </a:pPr>
            <a:r>
              <a:rPr b="1" lang="en-US" sz="3100">
                <a:solidFill>
                  <a:srgbClr val="12401F"/>
                </a:solidFill>
                <a:latin typeface="Arial"/>
                <a:ea typeface="Arial"/>
                <a:cs typeface="Arial"/>
                <a:sym typeface="Arial"/>
              </a:rPr>
              <a:t>Definición del Alcance: Evolución de NutriLink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51560" y="1417320"/>
            <a:ext cx="3108960" cy="566928"/>
          </a:xfrm>
          <a:prstGeom prst="roundRect">
            <a:avLst>
              <a:gd fmla="val 50000" name="adj"/>
            </a:avLst>
          </a:prstGeom>
          <a:solidFill>
            <a:srgbClr val="1744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51560" y="1417320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[Construido]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720840" y="1417320"/>
            <a:ext cx="4160520" cy="566928"/>
          </a:xfrm>
          <a:prstGeom prst="roundRect">
            <a:avLst>
              <a:gd fmla="val 50000" name="adj"/>
            </a:avLst>
          </a:prstGeom>
          <a:solidFill>
            <a:srgbClr val="D9A2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720840" y="1417320"/>
            <a:ext cx="4160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3D2E05"/>
                </a:solidFill>
                <a:latin typeface="Arial"/>
                <a:ea typeface="Arial"/>
                <a:cs typeface="Arial"/>
                <a:sym typeface="Arial"/>
              </a:rPr>
              <a:t>[Por Construir (Capstone)]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5"/>
          <p:cNvGrpSpPr/>
          <p:nvPr/>
        </p:nvGrpSpPr>
        <p:grpSpPr>
          <a:xfrm>
            <a:off x="634028" y="2723173"/>
            <a:ext cx="4114800" cy="1079100"/>
            <a:chOff x="566928" y="3584448"/>
            <a:chExt cx="4114800" cy="1079100"/>
          </a:xfrm>
        </p:grpSpPr>
        <p:sp>
          <p:nvSpPr>
            <p:cNvPr id="84" name="Google Shape;84;p5"/>
            <p:cNvSpPr/>
            <p:nvPr/>
          </p:nvSpPr>
          <p:spPr>
            <a:xfrm>
              <a:off x="566928" y="3584448"/>
              <a:ext cx="4114800" cy="1078992"/>
            </a:xfrm>
            <a:prstGeom prst="roundRect">
              <a:avLst>
                <a:gd fmla="val 10169" name="adj"/>
              </a:avLst>
            </a:prstGeom>
            <a:solidFill>
              <a:srgbClr val="D9E7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66928" y="3584448"/>
              <a:ext cx="4114800" cy="10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800" lIns="177800" spcFirstLastPara="1" rIns="177800" wrap="square" tIns="177800">
              <a:no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3B26"/>
                </a:buClr>
                <a:buSzPts val="1450"/>
                <a:buFont typeface="Calibri"/>
                <a:buNone/>
              </a:pPr>
              <a:r>
                <a:rPr b="1" lang="en-US" sz="1450">
                  <a:solidFill>
                    <a:srgbClr val="1D3B26"/>
                  </a:solidFill>
                  <a:latin typeface="Calibri"/>
                  <a:ea typeface="Calibri"/>
                  <a:cs typeface="Calibri"/>
                  <a:sym typeface="Calibri"/>
                </a:rPr>
                <a:t>Web nutricionista: </a:t>
              </a:r>
              <a:r>
                <a:rPr lang="en-US" sz="1450">
                  <a:solidFill>
                    <a:srgbClr val="1D3B26"/>
                  </a:solidFill>
                  <a:latin typeface="Calibri"/>
                  <a:ea typeface="Calibri"/>
                  <a:cs typeface="Calibri"/>
                  <a:sym typeface="Calibri"/>
                </a:rPr>
                <a:t>Cálculo de r</a:t>
              </a:r>
              <a:r>
                <a:rPr lang="en-US" sz="1450">
                  <a:solidFill>
                    <a:srgbClr val="1D3B26"/>
                  </a:solidFill>
                  <a:latin typeface="Calibri"/>
                  <a:ea typeface="Calibri"/>
                  <a:cs typeface="Calibri"/>
                  <a:sym typeface="Calibri"/>
                </a:rPr>
                <a:t>equerimientos y minutas personalizadas, </a:t>
              </a:r>
              <a:r>
                <a:rPr lang="en-US" sz="1450">
                  <a:solidFill>
                    <a:srgbClr val="1D3B26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450">
                  <a:solidFill>
                    <a:srgbClr val="1D3B26"/>
                  </a:solidFill>
                  <a:latin typeface="Calibri"/>
                  <a:ea typeface="Calibri"/>
                  <a:cs typeface="Calibri"/>
                  <a:sym typeface="Calibri"/>
                </a:rPr>
                <a:t>estión clínica, historial y agenda.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34028" y="4323621"/>
            <a:ext cx="4114800" cy="1078992"/>
            <a:chOff x="566928" y="4882896"/>
            <a:chExt cx="4114800" cy="1078992"/>
          </a:xfrm>
        </p:grpSpPr>
        <p:sp>
          <p:nvSpPr>
            <p:cNvPr id="87" name="Google Shape;87;p5"/>
            <p:cNvSpPr/>
            <p:nvPr/>
          </p:nvSpPr>
          <p:spPr>
            <a:xfrm>
              <a:off x="566928" y="4882896"/>
              <a:ext cx="4114800" cy="1078992"/>
            </a:xfrm>
            <a:prstGeom prst="roundRect">
              <a:avLst>
                <a:gd fmla="val 10169" name="adj"/>
              </a:avLst>
            </a:prstGeom>
            <a:solidFill>
              <a:srgbClr val="D9E7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66928" y="4882896"/>
              <a:ext cx="4114800" cy="107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800" lIns="177800" spcFirstLastPara="1" rIns="177800" wrap="square" tIns="177800">
              <a:no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3B26"/>
                </a:buClr>
                <a:buSzPts val="1450"/>
                <a:buFont typeface="Calibri"/>
                <a:buNone/>
              </a:pPr>
              <a:r>
                <a:rPr b="1" lang="en-US" sz="1450">
                  <a:solidFill>
                    <a:srgbClr val="1D3B26"/>
                  </a:solidFill>
                  <a:latin typeface="Calibri"/>
                  <a:ea typeface="Calibri"/>
                  <a:cs typeface="Calibri"/>
                  <a:sym typeface="Calibri"/>
                </a:rPr>
                <a:t>App paciente:</a:t>
              </a:r>
              <a:r>
                <a:rPr lang="en-US" sz="1450">
                  <a:solidFill>
                    <a:srgbClr val="1D3B26"/>
                  </a:solidFill>
                  <a:latin typeface="Calibri"/>
                  <a:ea typeface="Calibri"/>
                  <a:cs typeface="Calibri"/>
                  <a:sym typeface="Calibri"/>
                </a:rPr>
                <a:t> Gráficos de evolución antropométrica, sistema de agendamiento, consulta de nutricionistas.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5"/>
          <p:cNvSpPr/>
          <p:nvPr/>
        </p:nvSpPr>
        <p:spPr>
          <a:xfrm>
            <a:off x="5367525" y="2137175"/>
            <a:ext cx="6539400" cy="4406700"/>
          </a:xfrm>
          <a:prstGeom prst="roundRect">
            <a:avLst>
              <a:gd fmla="val 3483" name="adj"/>
            </a:avLst>
          </a:prstGeom>
          <a:solidFill>
            <a:srgbClr val="FCF3DA"/>
          </a:solidFill>
          <a:ln cap="flat" cmpd="sng" w="15875">
            <a:solidFill>
              <a:srgbClr val="E3B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48950" y="2082475"/>
            <a:ext cx="6315600" cy="43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Nuevos Nichos: 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Extensión de funcionalidades para deportistas, diabéticos, enfermedad renal crónica, pediatría, embarazo.</a:t>
            </a:r>
            <a:endParaRPr sz="13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Nueva Encuesta de Tendencia de Consumo</a:t>
            </a:r>
            <a:endParaRPr b="1" sz="1300">
              <a:solidFill>
                <a:srgbClr val="3D2E0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de pasarela de pagos.</a:t>
            </a:r>
            <a:endParaRPr/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Integración de Telemedicina 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 videollamadas, mensajería en tiempo real, carpetas compartidas, etc.</a:t>
            </a:r>
            <a:endParaRPr sz="13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IA y Analítica 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nálisis de calidad de dieta con IA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/determin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ística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 OCR* para análisis de exámenes médicos y generaci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ón de recomendaciones de diagnóstico y suplementación.</a:t>
            </a:r>
            <a:endParaRPr/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Seguridad como diseño: 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Tokenización y cifrado de contraseñas para almacenamiento seguro en base de datos.</a:t>
            </a:r>
            <a:endParaRPr/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Resumen de paciente con IA para cada atención: 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Al inicio de cada atención, se despliega un resumen basado en el historial del paciente (Funcionalidad IA)</a:t>
            </a:r>
            <a:endParaRPr/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Incorporación de almacenamiento para exámenes</a:t>
            </a:r>
            <a:endParaRPr/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Incorporación de IoT en proceso de evaluación</a:t>
            </a:r>
            <a:endParaRPr/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2E05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Aplicación Móvil para Nutricionista: 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Incorporar principales funcionalidades de Página web en una aplicación móvil para nutricionista.</a:t>
            </a:r>
            <a:endParaRPr sz="13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AutoNum type="arabicPeriod"/>
            </a:pP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Verificaci</a:t>
            </a:r>
            <a:r>
              <a:rPr b="1" lang="en-US" sz="1300">
                <a:solidFill>
                  <a:srgbClr val="3D2E05"/>
                </a:solidFill>
                <a:latin typeface="Calibri"/>
                <a:ea typeface="Calibri"/>
                <a:cs typeface="Calibri"/>
                <a:sym typeface="Calibri"/>
              </a:rPr>
              <a:t>ón de Nutricionista:</a:t>
            </a:r>
            <a:r>
              <a:rPr b="1"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Incorporación de API de Superintendencia de Salud para verificar si la persona está registrada como nutricionista.</a:t>
            </a:r>
            <a:endParaRPr sz="13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0434788" y="6642556"/>
            <a:ext cx="175721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*OCR = Optical Character Recognition</a:t>
            </a:r>
            <a:endParaRPr sz="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6F9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ops/tooth.png"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0528" y="1572768"/>
            <a:ext cx="4864608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566928" y="457200"/>
            <a:ext cx="1080820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375C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3375C"/>
                </a:solidFill>
                <a:latin typeface="Arial"/>
                <a:ea typeface="Arial"/>
                <a:cs typeface="Arial"/>
                <a:sym typeface="Arial"/>
              </a:rPr>
              <a:t>Denti-Check: El motor de diagnóstico dental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66928" y="2194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66928" y="2440459"/>
            <a:ext cx="5394960" cy="1006829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7FC4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66928" y="2699703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Plataforma de análisis radiográfico impulsada por visión artificial.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66928" y="3768317"/>
            <a:ext cx="5394960" cy="1050571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7FC4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66928" y="4041648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CRISP-DM complementada con Scrum.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66928" y="5183659"/>
            <a:ext cx="5394960" cy="1006829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7FC4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66928" y="5435119"/>
            <a:ext cx="5394960" cy="755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Odontólogos y centros de radiodiagnóstico maxilofacial.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66928" y="2194560"/>
            <a:ext cx="3108960" cy="502920"/>
          </a:xfrm>
          <a:prstGeom prst="roundRect">
            <a:avLst>
              <a:gd fmla="val 49091" name="adj"/>
            </a:avLst>
          </a:prstGeom>
          <a:solidFill>
            <a:srgbClr val="3D7E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Propósito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66928" y="3538728"/>
            <a:ext cx="3108960" cy="502920"/>
          </a:xfrm>
          <a:prstGeom prst="roundRect">
            <a:avLst>
              <a:gd fmla="val 49091" name="adj"/>
            </a:avLst>
          </a:prstGeom>
          <a:solidFill>
            <a:srgbClr val="3D7E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Metodología Académica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66928" y="4932199"/>
            <a:ext cx="3108960" cy="502920"/>
          </a:xfrm>
          <a:prstGeom prst="roundRect">
            <a:avLst>
              <a:gd fmla="val 49091" name="adj"/>
            </a:avLst>
          </a:prstGeom>
          <a:solidFill>
            <a:srgbClr val="3D7E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Público Objetivo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6F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566928" y="457200"/>
            <a:ext cx="11064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Arquitectura Propuesta Denti-Check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7"/>
          <p:cNvCxnSpPr/>
          <p:nvPr/>
        </p:nvCxnSpPr>
        <p:spPr>
          <a:xfrm>
            <a:off x="4651082" y="1544595"/>
            <a:ext cx="0" cy="4297680"/>
          </a:xfrm>
          <a:prstGeom prst="straightConnector1">
            <a:avLst/>
          </a:prstGeom>
          <a:noFill/>
          <a:ln cap="flat" cmpd="sng" w="12700">
            <a:solidFill>
              <a:srgbClr val="C3D6E3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16" name="Google Shape;116;p7"/>
          <p:cNvGraphicFramePr/>
          <p:nvPr/>
        </p:nvGraphicFramePr>
        <p:xfrm>
          <a:off x="5239267" y="18745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{C69170A0-2912-4158-A17F-A406AF748BA2}</a:tableStyleId>
              </a:tblPr>
              <a:tblGrid>
                <a:gridCol w="2121650"/>
                <a:gridCol w="2665650"/>
                <a:gridCol w="1632025"/>
              </a:tblGrid>
              <a:tr h="644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Tecnología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Alojamiento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B4"/>
                    </a:solidFill>
                  </a:tcPr>
                </a:tc>
              </a:tr>
              <a:tr h="811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web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/ Next.js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11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Rest &amp; Motor IA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(FastAPI) / PyTorch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Railway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11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de datos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Railway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11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móvil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Ionic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D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058" y="1417320"/>
            <a:ext cx="3287044" cy="5047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566928" y="148590"/>
            <a:ext cx="11064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Mapeo Modular Denti-Check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02920" y="3712464"/>
            <a:ext cx="2103120" cy="685800"/>
          </a:xfrm>
          <a:prstGeom prst="roundRect">
            <a:avLst>
              <a:gd fmla="val 49333" name="adj"/>
            </a:avLst>
          </a:prstGeom>
          <a:solidFill>
            <a:srgbClr val="0D2F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02920" y="3712464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Denti-Check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8"/>
          <p:cNvCxnSpPr/>
          <p:nvPr/>
        </p:nvCxnSpPr>
        <p:spPr>
          <a:xfrm flipH="1" rot="10800000">
            <a:off x="2606040" y="2697480"/>
            <a:ext cx="640080" cy="1357884"/>
          </a:xfrm>
          <a:prstGeom prst="straightConnector1">
            <a:avLst/>
          </a:prstGeom>
          <a:noFill/>
          <a:ln cap="flat" cmpd="sng" w="15875">
            <a:solidFill>
              <a:srgbClr val="9AA5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8"/>
          <p:cNvSpPr/>
          <p:nvPr/>
        </p:nvSpPr>
        <p:spPr>
          <a:xfrm>
            <a:off x="3246120" y="2171700"/>
            <a:ext cx="2286000" cy="1051560"/>
          </a:xfrm>
          <a:prstGeom prst="roundRect">
            <a:avLst>
              <a:gd fmla="val 26087" name="adj"/>
            </a:avLst>
          </a:prstGeom>
          <a:solidFill>
            <a:srgbClr val="65B3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246120" y="217170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(Odontólogo/Radiólogo)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8"/>
          <p:cNvCxnSpPr/>
          <p:nvPr/>
        </p:nvCxnSpPr>
        <p:spPr>
          <a:xfrm flipH="1" rot="10800000">
            <a:off x="5532120" y="1655064"/>
            <a:ext cx="731520" cy="1042416"/>
          </a:xfrm>
          <a:prstGeom prst="straightConnector1">
            <a:avLst/>
          </a:prstGeom>
          <a:noFill/>
          <a:ln cap="flat" cmpd="sng" w="15875">
            <a:solidFill>
              <a:srgbClr val="9AA5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8"/>
          <p:cNvSpPr/>
          <p:nvPr/>
        </p:nvSpPr>
        <p:spPr>
          <a:xfrm>
            <a:off x="6263640" y="1371600"/>
            <a:ext cx="53949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263640" y="1371600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Gestión clínica y administrativa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8"/>
          <p:cNvCxnSpPr/>
          <p:nvPr/>
        </p:nvCxnSpPr>
        <p:spPr>
          <a:xfrm flipH="1" rot="10800000">
            <a:off x="5532120" y="2350008"/>
            <a:ext cx="731520" cy="347472"/>
          </a:xfrm>
          <a:prstGeom prst="straightConnector1">
            <a:avLst/>
          </a:prstGeom>
          <a:noFill/>
          <a:ln cap="flat" cmpd="sng" w="15875">
            <a:solidFill>
              <a:srgbClr val="9AA5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8"/>
          <p:cNvSpPr/>
          <p:nvPr/>
        </p:nvSpPr>
        <p:spPr>
          <a:xfrm>
            <a:off x="6263640" y="2066544"/>
            <a:ext cx="53949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263640" y="2066544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Visor de imágenes web (Zoom/Contraste)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8"/>
          <p:cNvCxnSpPr/>
          <p:nvPr/>
        </p:nvCxnSpPr>
        <p:spPr>
          <a:xfrm>
            <a:off x="5532120" y="2697480"/>
            <a:ext cx="731520" cy="347472"/>
          </a:xfrm>
          <a:prstGeom prst="straightConnector1">
            <a:avLst/>
          </a:prstGeom>
          <a:noFill/>
          <a:ln cap="flat" cmpd="sng" w="15875">
            <a:solidFill>
              <a:srgbClr val="9AA5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8"/>
          <p:cNvSpPr/>
          <p:nvPr/>
        </p:nvSpPr>
        <p:spPr>
          <a:xfrm>
            <a:off x="6263640" y="2761488"/>
            <a:ext cx="53949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263640" y="2761488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Diagnóstico IA (Bounding boxes)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8"/>
          <p:cNvCxnSpPr/>
          <p:nvPr/>
        </p:nvCxnSpPr>
        <p:spPr>
          <a:xfrm>
            <a:off x="5532120" y="2697480"/>
            <a:ext cx="731520" cy="1042416"/>
          </a:xfrm>
          <a:prstGeom prst="straightConnector1">
            <a:avLst/>
          </a:prstGeom>
          <a:noFill/>
          <a:ln cap="flat" cmpd="sng" w="15875">
            <a:solidFill>
              <a:srgbClr val="9AA5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8"/>
          <p:cNvSpPr/>
          <p:nvPr/>
        </p:nvSpPr>
        <p:spPr>
          <a:xfrm>
            <a:off x="6263640" y="3456432"/>
            <a:ext cx="53949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263640" y="3456432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Generación de reportes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2606040" y="4055364"/>
            <a:ext cx="640080" cy="1357884"/>
          </a:xfrm>
          <a:prstGeom prst="straightConnector1">
            <a:avLst/>
          </a:prstGeom>
          <a:noFill/>
          <a:ln cap="flat" cmpd="sng" w="15875">
            <a:solidFill>
              <a:srgbClr val="9AA5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8"/>
          <p:cNvSpPr/>
          <p:nvPr/>
        </p:nvSpPr>
        <p:spPr>
          <a:xfrm>
            <a:off x="3246120" y="4887468"/>
            <a:ext cx="2286000" cy="1051560"/>
          </a:xfrm>
          <a:prstGeom prst="roundRect">
            <a:avLst>
              <a:gd fmla="val 26087" name="adj"/>
            </a:avLst>
          </a:prstGeom>
          <a:solidFill>
            <a:srgbClr val="15A1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246120" y="4887468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(Odontólogo/Radiólogo)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8"/>
          <p:cNvCxnSpPr/>
          <p:nvPr/>
        </p:nvCxnSpPr>
        <p:spPr>
          <a:xfrm flipH="1" rot="10800000">
            <a:off x="5532120" y="4718304"/>
            <a:ext cx="731520" cy="694944"/>
          </a:xfrm>
          <a:prstGeom prst="straightConnector1">
            <a:avLst/>
          </a:prstGeom>
          <a:noFill/>
          <a:ln cap="flat" cmpd="sng" w="15875">
            <a:solidFill>
              <a:srgbClr val="9AA5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8"/>
          <p:cNvSpPr/>
          <p:nvPr/>
        </p:nvSpPr>
        <p:spPr>
          <a:xfrm>
            <a:off x="6263640" y="4434840"/>
            <a:ext cx="53949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263640" y="4434840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Replicación entorno clínico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8"/>
          <p:cNvCxnSpPr/>
          <p:nvPr/>
        </p:nvCxnSpPr>
        <p:spPr>
          <a:xfrm>
            <a:off x="5532120" y="5413248"/>
            <a:ext cx="731520" cy="0"/>
          </a:xfrm>
          <a:prstGeom prst="straightConnector1">
            <a:avLst/>
          </a:prstGeom>
          <a:noFill/>
          <a:ln cap="flat" cmpd="sng" w="15875">
            <a:solidFill>
              <a:srgbClr val="9AA5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8"/>
          <p:cNvSpPr/>
          <p:nvPr/>
        </p:nvSpPr>
        <p:spPr>
          <a:xfrm>
            <a:off x="6263640" y="5129784"/>
            <a:ext cx="53949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263640" y="5129784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Captura fotográfica de negatoscopio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>
            <a:off x="5532120" y="5413248"/>
            <a:ext cx="731520" cy="694944"/>
          </a:xfrm>
          <a:prstGeom prst="straightConnector1">
            <a:avLst/>
          </a:prstGeom>
          <a:noFill/>
          <a:ln cap="flat" cmpd="sng" w="15875">
            <a:solidFill>
              <a:srgbClr val="9AA5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8"/>
          <p:cNvSpPr/>
          <p:nvPr/>
        </p:nvSpPr>
        <p:spPr>
          <a:xfrm>
            <a:off x="6263640" y="5824728"/>
            <a:ext cx="53949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263640" y="5824728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Evaluación IA en tiempo real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ED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El ciclo de inferencia en tiempo real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ops/ciclo.png"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74520"/>
            <a:ext cx="11311128" cy="26791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411480" y="48006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Paso 1: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Captura Física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282696" y="48006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Paso 2: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Transmisión Backend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135624" y="48006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Paso 3: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Análisis Red Neuronal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997696" y="48006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Paso 4: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Retorno Visual Sincronizado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ED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a74d5901_0_0"/>
          <p:cNvSpPr/>
          <p:nvPr/>
        </p:nvSpPr>
        <p:spPr>
          <a:xfrm>
            <a:off x="566890" y="22719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F1F1F"/>
                </a:solidFill>
              </a:rPr>
              <a:t>Datasets encontrados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g3f9a74d5901_0_0"/>
          <p:cNvGraphicFramePr/>
          <p:nvPr/>
        </p:nvGraphicFramePr>
        <p:xfrm>
          <a:off x="233440" y="1237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{C69170A0-2912-4158-A17F-A406AF748BA2}</a:tableStyleId>
              </a:tblPr>
              <a:tblGrid>
                <a:gridCol w="2502300"/>
                <a:gridCol w="3074275"/>
                <a:gridCol w="3074275"/>
                <a:gridCol w="307427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8A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b="1" sz="15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Observaciones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F64"/>
                    </a:solidFill>
                  </a:tcPr>
                </a:tc>
              </a:tr>
              <a:tr h="34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https://github.com/Zzz512/MLUA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 radiografías panorámicas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FPN/ResNet-34 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 entrenador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 imagenet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caries. Acceso público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49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https://data.mendeley.com/datasets/4fbdxs7s7w/1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radiografías bite-wing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caries. 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Acceso público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412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https://www.kaggle.com/datasets/nadaaglan/dental-periapical-x-rayss/data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1899 radiografías periapicales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caries. </a:t>
                      </a: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Acceso público. Sin información respecto a evaluadores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36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https://zenodo.org/records/14827784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6313 fotos intraorales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caries. 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Acceso público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36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https://huggingface.co/datasets/ibrahimhamamci/DENTEX</a:t>
                      </a:r>
                      <a:endParaRPr sz="10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1005 radiografías panorámicas</a:t>
                      </a:r>
                      <a:endParaRPr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caries. Contiene 1327 radiografías para detección de dientes y cuadrantes. Acceso público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36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https://github.com/tanjidakabir/TK_Tooth_Number_Code/tree/main</a:t>
                      </a:r>
                      <a:endParaRPr sz="10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188 radiografías periapicales</a:t>
                      </a:r>
                      <a:endParaRPr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caries. 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Acceso público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36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https://github.com/ZFTurbo/AlphaDent</a:t>
                      </a:r>
                      <a:endParaRPr sz="10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1320 fotos intraorales</a:t>
                      </a:r>
                      <a:endParaRPr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caries y restauraciones. Acceso público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36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https://github.com/nkicsl/PRAD</a:t>
                      </a:r>
                      <a:endParaRPr sz="10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5000 radiografías periapicales</a:t>
                      </a:r>
                      <a:endParaRPr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PRNet (basada en U-Net) - no incluye archivos pt (pesos preentrenados)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caries. 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Requiere autorización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36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https://tdd.ece.tufts.edu/</a:t>
                      </a:r>
                      <a:endParaRPr sz="10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 radiografías panorámicas</a:t>
                      </a:r>
                      <a:endParaRPr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caries. 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Requiere autorización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ED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563880" y="0"/>
            <a:ext cx="11064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Roadmap Capstone: Denti-Check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7737"/>
            <a:ext cx="12192000" cy="596686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11201400" y="6604686"/>
            <a:ext cx="990600" cy="25331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Síntesis Arquitectónica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822960" y="1600200"/>
            <a:ext cx="4892040" cy="4434840"/>
          </a:xfrm>
          <a:prstGeom prst="roundRect">
            <a:avLst>
              <a:gd fmla="val 2062" name="adj"/>
            </a:avLst>
          </a:prstGeom>
          <a:solidFill>
            <a:srgbClr val="43434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097280" y="269748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Motor de Cálculo: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PL/pgSQL – API Rest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1"/>
          <p:cNvCxnSpPr/>
          <p:nvPr/>
        </p:nvCxnSpPr>
        <p:spPr>
          <a:xfrm>
            <a:off x="1280160" y="3657600"/>
            <a:ext cx="3977640" cy="0"/>
          </a:xfrm>
          <a:prstGeom prst="straightConnector1">
            <a:avLst/>
          </a:prstGeom>
          <a:noFill/>
          <a:ln cap="flat" cmpd="sng" w="9525">
            <a:solidFill>
              <a:srgbClr val="6E9E6B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1"/>
          <p:cNvSpPr/>
          <p:nvPr/>
        </p:nvSpPr>
        <p:spPr>
          <a:xfrm>
            <a:off x="1097280" y="379476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Django + Ionic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1"/>
          <p:cNvCxnSpPr/>
          <p:nvPr/>
        </p:nvCxnSpPr>
        <p:spPr>
          <a:xfrm>
            <a:off x="1280160" y="4754880"/>
            <a:ext cx="3977640" cy="0"/>
          </a:xfrm>
          <a:prstGeom prst="straightConnector1">
            <a:avLst/>
          </a:prstGeom>
          <a:noFill/>
          <a:ln cap="flat" cmpd="sng" w="9525">
            <a:solidFill>
              <a:srgbClr val="6E9E6B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1"/>
          <p:cNvSpPr/>
          <p:nvPr/>
        </p:nvSpPr>
        <p:spPr>
          <a:xfrm>
            <a:off x="945291" y="4892040"/>
            <a:ext cx="46152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Integraciones Propuestas: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OCR, Gemini (LLM), Pasarelas de pago , seguridad, extension funcionalidades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446520" y="1600200"/>
            <a:ext cx="4892040" cy="4434840"/>
          </a:xfrm>
          <a:prstGeom prst="roundRect">
            <a:avLst>
              <a:gd fmla="val 2062" name="adj"/>
            </a:avLst>
          </a:prstGeom>
          <a:solidFill>
            <a:schemeClr val="lt1"/>
          </a:solidFill>
          <a:ln cap="flat" cmpd="sng" w="19050">
            <a:solidFill>
              <a:srgbClr val="1E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6446520" y="182880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F5C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D2F5C"/>
                </a:solidFill>
                <a:latin typeface="Arial"/>
                <a:ea typeface="Arial"/>
                <a:cs typeface="Arial"/>
                <a:sym typeface="Arial"/>
              </a:rPr>
              <a:t>Denti-Check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6720840" y="269748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Motor IA: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PyTorch + YOLO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1"/>
          <p:cNvCxnSpPr/>
          <p:nvPr/>
        </p:nvCxnSpPr>
        <p:spPr>
          <a:xfrm>
            <a:off x="6903720" y="3657600"/>
            <a:ext cx="3977640" cy="0"/>
          </a:xfrm>
          <a:prstGeom prst="straightConnector1">
            <a:avLst/>
          </a:prstGeom>
          <a:noFill/>
          <a:ln cap="flat" cmpd="sng" w="9525">
            <a:solidFill>
              <a:srgbClr val="1E3A63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1"/>
          <p:cNvSpPr/>
          <p:nvPr/>
        </p:nvSpPr>
        <p:spPr>
          <a:xfrm>
            <a:off x="6720840" y="379476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React/Next.js + Ionic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11"/>
          <p:cNvCxnSpPr/>
          <p:nvPr/>
        </p:nvCxnSpPr>
        <p:spPr>
          <a:xfrm>
            <a:off x="6903720" y="4754880"/>
            <a:ext cx="3977640" cy="0"/>
          </a:xfrm>
          <a:prstGeom prst="straightConnector1">
            <a:avLst/>
          </a:prstGeom>
          <a:noFill/>
          <a:ln cap="flat" cmpd="sng" w="9525">
            <a:solidFill>
              <a:srgbClr val="1E3A63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1"/>
          <p:cNvSpPr/>
          <p:nvPr/>
        </p:nvSpPr>
        <p:spPr>
          <a:xfrm>
            <a:off x="6720840" y="489204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Integraciones Propuestas: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FastAPI, Procesamiento de imágenes en tiempo real.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1"/>
          <p:cNvPicPr preferRelativeResize="0"/>
          <p:nvPr/>
        </p:nvPicPr>
        <p:blipFill rotWithShape="1">
          <a:blip r:embed="rId3">
            <a:alphaModFix/>
          </a:blip>
          <a:srcRect b="41902" l="0" r="0" t="39327"/>
          <a:stretch/>
        </p:blipFill>
        <p:spPr>
          <a:xfrm>
            <a:off x="1535350" y="1845370"/>
            <a:ext cx="3233530" cy="606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/>
          <p:nvPr/>
        </p:nvSpPr>
        <p:spPr>
          <a:xfrm>
            <a:off x="566928" y="365760"/>
            <a:ext cx="11064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Matriz de Decisión Capstone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5" name="Google Shape;205;p12"/>
          <p:cNvGraphicFramePr/>
          <p:nvPr/>
        </p:nvGraphicFramePr>
        <p:xfrm>
          <a:off x="566928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{C69170A0-2912-4158-A17F-A406AF748BA2}</a:tableStyleId>
              </a:tblPr>
              <a:tblGrid>
                <a:gridCol w="3200400"/>
                <a:gridCol w="3931925"/>
                <a:gridCol w="393192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Dimensión de Evaluación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NutriLink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8A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Denti-Check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F6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Punto de Partida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Evolución (Código base funcional existente).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scratch (Construcción 100% desde cero), innovación.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Foco Tecnológico Principal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Lógica de negocio compleja, Telemedicina, Integración de APIs, vision a uso professional.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Visión artificial, Entrenamiento de modelos, Procesamiento de imágenes.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Metodología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SCRUM: herramientas (Jira/Monday), ceremonia weekly, sprints semanales.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CRISP-DM + Scrum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Desafío Principal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Escalabilidad, refactorización, mejora continua e integración elementos externos.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Disponibilidad de datasets, a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rquitectura inicial, latencia de inferencia y precisión del modelo clínico.</a:t>
                      </a:r>
                      <a:endParaRPr sz="1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6C6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2026-08-15T20:05:31Z</dcterms:created>
  <dc:creator>Pablo Castro, Patricio Leiva, Mariana Rodríguez</dc:creator>
</cp:coreProperties>
</file>