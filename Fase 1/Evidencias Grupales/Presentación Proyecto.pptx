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ustria" charset="1" panose="02000603060000020004"/>
      <p:regular r:id="rId14"/>
    </p:embeddedFon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Solomon Sans" charset="1" panose="02000000000000000000"/>
      <p:regular r:id="rId17"/>
    </p:embeddedFont>
    <p:embeddedFont>
      <p:font typeface="Solomon Sans Bold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4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502558"/>
            <a:ext cx="8623907" cy="1389649"/>
            <a:chOff x="0" y="0"/>
            <a:chExt cx="2271317" cy="3659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1317" cy="365998"/>
            </a:xfrm>
            <a:custGeom>
              <a:avLst/>
              <a:gdLst/>
              <a:ahLst/>
              <a:cxnLst/>
              <a:rect r="r" b="b" t="t" l="l"/>
              <a:pathLst>
                <a:path h="365998" w="2271317">
                  <a:moveTo>
                    <a:pt x="0" y="0"/>
                  </a:moveTo>
                  <a:lnTo>
                    <a:pt x="2271317" y="0"/>
                  </a:lnTo>
                  <a:lnTo>
                    <a:pt x="2271317" y="365998"/>
                  </a:lnTo>
                  <a:lnTo>
                    <a:pt x="0" y="365998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71317" cy="423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35122" y="1789416"/>
            <a:ext cx="3928432" cy="5713142"/>
            <a:chOff x="0" y="0"/>
            <a:chExt cx="812800" cy="1182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182060"/>
            </a:xfrm>
            <a:custGeom>
              <a:avLst/>
              <a:gdLst/>
              <a:ahLst/>
              <a:cxnLst/>
              <a:rect r="r" b="b" t="t" l="l"/>
              <a:pathLst>
                <a:path h="11820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82060"/>
                  </a:lnTo>
                  <a:lnTo>
                    <a:pt x="0" y="1182060"/>
                  </a:lnTo>
                  <a:close/>
                </a:path>
              </a:pathLst>
            </a:custGeom>
            <a:blipFill>
              <a:blip r:embed="rId2"/>
              <a:stretch>
                <a:fillRect l="0" t="-1603" r="0" b="-160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82989" y="3210886"/>
            <a:ext cx="4300107" cy="6253671"/>
            <a:chOff x="0" y="0"/>
            <a:chExt cx="812800" cy="1182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182060"/>
            </a:xfrm>
            <a:custGeom>
              <a:avLst/>
              <a:gdLst/>
              <a:ahLst/>
              <a:cxnLst/>
              <a:rect r="r" b="b" t="t" l="l"/>
              <a:pathLst>
                <a:path h="118206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82060"/>
                  </a:lnTo>
                  <a:lnTo>
                    <a:pt x="0" y="1182060"/>
                  </a:lnTo>
                  <a:close/>
                </a:path>
              </a:pathLst>
            </a:custGeom>
            <a:blipFill>
              <a:blip r:embed="rId3"/>
              <a:stretch>
                <a:fillRect l="0" t="-1570" r="0" b="-15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44557" y="8022858"/>
            <a:ext cx="909562" cy="1322782"/>
            <a:chOff x="0" y="0"/>
            <a:chExt cx="239555" cy="3483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9555" cy="348387"/>
            </a:xfrm>
            <a:custGeom>
              <a:avLst/>
              <a:gdLst/>
              <a:ahLst/>
              <a:cxnLst/>
              <a:rect r="r" b="b" t="t" l="l"/>
              <a:pathLst>
                <a:path h="348387" w="239555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DB7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73534" y="1789416"/>
            <a:ext cx="909562" cy="1322782"/>
            <a:chOff x="0" y="0"/>
            <a:chExt cx="239555" cy="3483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9555" cy="348387"/>
            </a:xfrm>
            <a:custGeom>
              <a:avLst/>
              <a:gdLst/>
              <a:ahLst/>
              <a:cxnLst/>
              <a:rect r="r" b="b" t="t" l="l"/>
              <a:pathLst>
                <a:path h="348387" w="239555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B3B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62579" y="3904092"/>
            <a:ext cx="5498750" cy="1483789"/>
          </a:xfrm>
          <a:custGeom>
            <a:avLst/>
            <a:gdLst/>
            <a:ahLst/>
            <a:cxnLst/>
            <a:rect r="r" b="b" t="t" l="l"/>
            <a:pathLst>
              <a:path h="1483789" w="5498750">
                <a:moveTo>
                  <a:pt x="0" y="0"/>
                </a:moveTo>
                <a:lnTo>
                  <a:pt x="5498749" y="0"/>
                </a:lnTo>
                <a:lnTo>
                  <a:pt x="5498749" y="1483789"/>
                </a:lnTo>
                <a:lnTo>
                  <a:pt x="0" y="1483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726" r="0" b="-13486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4474" y="2159053"/>
            <a:ext cx="9523565" cy="132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2"/>
              </a:lnSpc>
              <a:spcBef>
                <a:spcPct val="0"/>
              </a:spcBef>
            </a:pPr>
            <a:r>
              <a:rPr lang="en-US" sz="7716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Proyecto de Título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315" y="7630741"/>
            <a:ext cx="7834960" cy="100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Pablo Castro, Patricio Leiva y Mariana Rodríguez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04" y="9201150"/>
            <a:ext cx="292974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Docente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Felix Cifuentes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99774" y="9856698"/>
            <a:ext cx="1119052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387" y="-514350"/>
            <a:ext cx="6014655" cy="11315700"/>
            <a:chOff x="0" y="0"/>
            <a:chExt cx="1584107" cy="29802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4107" cy="2980267"/>
            </a:xfrm>
            <a:custGeom>
              <a:avLst/>
              <a:gdLst/>
              <a:ahLst/>
              <a:cxnLst/>
              <a:rect r="r" b="b" t="t" l="l"/>
              <a:pathLst>
                <a:path h="2980267" w="1584107">
                  <a:moveTo>
                    <a:pt x="0" y="0"/>
                  </a:moveTo>
                  <a:lnTo>
                    <a:pt x="1584107" y="0"/>
                  </a:lnTo>
                  <a:lnTo>
                    <a:pt x="1584107" y="2980267"/>
                  </a:lnTo>
                  <a:lnTo>
                    <a:pt x="0" y="2980267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84107" cy="3037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533834">
            <a:off x="-965679" y="8552115"/>
            <a:ext cx="2954556" cy="2988173"/>
          </a:xfrm>
          <a:custGeom>
            <a:avLst/>
            <a:gdLst/>
            <a:ahLst/>
            <a:cxnLst/>
            <a:rect r="r" b="b" t="t" l="l"/>
            <a:pathLst>
              <a:path h="2988173" w="2954556">
                <a:moveTo>
                  <a:pt x="2954556" y="0"/>
                </a:moveTo>
                <a:lnTo>
                  <a:pt x="0" y="0"/>
                </a:lnTo>
                <a:lnTo>
                  <a:pt x="0" y="2988173"/>
                </a:lnTo>
                <a:lnTo>
                  <a:pt x="2954556" y="2988173"/>
                </a:lnTo>
                <a:lnTo>
                  <a:pt x="295455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347545">
            <a:off x="16321912" y="-1303586"/>
            <a:ext cx="2954556" cy="2988173"/>
          </a:xfrm>
          <a:custGeom>
            <a:avLst/>
            <a:gdLst/>
            <a:ahLst/>
            <a:cxnLst/>
            <a:rect r="r" b="b" t="t" l="l"/>
            <a:pathLst>
              <a:path h="2988173" w="2954556">
                <a:moveTo>
                  <a:pt x="2954556" y="2988172"/>
                </a:moveTo>
                <a:lnTo>
                  <a:pt x="0" y="2988172"/>
                </a:lnTo>
                <a:lnTo>
                  <a:pt x="0" y="0"/>
                </a:lnTo>
                <a:lnTo>
                  <a:pt x="2954556" y="0"/>
                </a:lnTo>
                <a:lnTo>
                  <a:pt x="2954556" y="2988172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882268" y="-148657"/>
            <a:ext cx="6313202" cy="11315700"/>
            <a:chOff x="0" y="0"/>
            <a:chExt cx="1662736" cy="2980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2736" cy="2980267"/>
            </a:xfrm>
            <a:custGeom>
              <a:avLst/>
              <a:gdLst/>
              <a:ahLst/>
              <a:cxnLst/>
              <a:rect r="r" b="b" t="t" l="l"/>
              <a:pathLst>
                <a:path h="2980267" w="1662736">
                  <a:moveTo>
                    <a:pt x="0" y="0"/>
                  </a:moveTo>
                  <a:lnTo>
                    <a:pt x="1662736" y="0"/>
                  </a:lnTo>
                  <a:lnTo>
                    <a:pt x="1662736" y="2980267"/>
                  </a:lnTo>
                  <a:lnTo>
                    <a:pt x="0" y="2980267"/>
                  </a:lnTo>
                  <a:close/>
                </a:path>
              </a:pathLst>
            </a:custGeom>
            <a:solidFill>
              <a:srgbClr val="FFDB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62736" cy="3037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08390" y="190500"/>
            <a:ext cx="9271221" cy="1028700"/>
            <a:chOff x="0" y="0"/>
            <a:chExt cx="244180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1803" cy="270933"/>
            </a:xfrm>
            <a:custGeom>
              <a:avLst/>
              <a:gdLst/>
              <a:ahLst/>
              <a:cxnLst/>
              <a:rect r="r" b="b" t="t" l="l"/>
              <a:pathLst>
                <a:path h="270933" w="2441803">
                  <a:moveTo>
                    <a:pt x="0" y="0"/>
                  </a:moveTo>
                  <a:lnTo>
                    <a:pt x="2441803" y="0"/>
                  </a:lnTo>
                  <a:lnTo>
                    <a:pt x="244180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2441803" cy="38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DESCRIPCIÓN DEL PROYECTO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42148" y="1527339"/>
            <a:ext cx="1922489" cy="65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  <a:spcBef>
                <a:spcPct val="0"/>
              </a:spcBef>
            </a:pPr>
            <a:r>
              <a:rPr lang="en-US" sz="3796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Dolor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148" y="2814828"/>
            <a:ext cx="4634393" cy="564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Dependencia excesiva de archivos de Excel informales.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Proceso de atención fragmentado, sin expediente unificado para nutricionistas independientes y de CESFAM.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747919" y="1543433"/>
            <a:ext cx="4218630" cy="66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3"/>
              </a:lnSpc>
              <a:spcBef>
                <a:spcPct val="0"/>
              </a:spcBef>
            </a:pPr>
            <a:r>
              <a:rPr lang="en-US" sz="3887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Solución - Fase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42829" y="2814828"/>
            <a:ext cx="5420716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Cálculos y diagnósticos especializados para pacientes con condiciones médicas, niños y deportistas.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42829" y="5255768"/>
            <a:ext cx="5494010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Desarrollo de app móvil orientado al nutricionista para gestionar atención en terreno.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9013" y="1569053"/>
            <a:ext cx="4216444" cy="64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Solución - Fase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28510" y="2814828"/>
            <a:ext cx="5420716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Plataforma web centralizada para realizar  consultas nutricionales y gestionar pacientes.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28510" y="5255768"/>
            <a:ext cx="5420716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App móvil para seguimiento de progreso por parte del paciente.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74179">
            <a:off x="13933846" y="-967388"/>
            <a:ext cx="7281115" cy="14856033"/>
            <a:chOff x="0" y="0"/>
            <a:chExt cx="1917660" cy="39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7660" cy="3912700"/>
            </a:xfrm>
            <a:custGeom>
              <a:avLst/>
              <a:gdLst/>
              <a:ahLst/>
              <a:cxnLst/>
              <a:rect r="r" b="b" t="t" l="l"/>
              <a:pathLst>
                <a:path h="3912700" w="1917660">
                  <a:moveTo>
                    <a:pt x="0" y="0"/>
                  </a:moveTo>
                  <a:lnTo>
                    <a:pt x="1917660" y="0"/>
                  </a:lnTo>
                  <a:lnTo>
                    <a:pt x="1917660" y="3912700"/>
                  </a:lnTo>
                  <a:lnTo>
                    <a:pt x="0" y="391270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17660" cy="396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95916" y="1404555"/>
            <a:ext cx="4692084" cy="4703844"/>
          </a:xfrm>
          <a:custGeom>
            <a:avLst/>
            <a:gdLst/>
            <a:ahLst/>
            <a:cxnLst/>
            <a:rect r="r" b="b" t="t" l="l"/>
            <a:pathLst>
              <a:path h="4703844" w="4692084">
                <a:moveTo>
                  <a:pt x="0" y="0"/>
                </a:moveTo>
                <a:lnTo>
                  <a:pt x="4692084" y="0"/>
                </a:lnTo>
                <a:lnTo>
                  <a:pt x="4692084" y="4703844"/>
                </a:lnTo>
                <a:lnTo>
                  <a:pt x="0" y="470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309621" y="6108399"/>
            <a:ext cx="4610824" cy="4692951"/>
          </a:xfrm>
          <a:custGeom>
            <a:avLst/>
            <a:gdLst/>
            <a:ahLst/>
            <a:cxnLst/>
            <a:rect r="r" b="b" t="t" l="l"/>
            <a:pathLst>
              <a:path h="4692951" w="4610824">
                <a:moveTo>
                  <a:pt x="0" y="0"/>
                </a:moveTo>
                <a:lnTo>
                  <a:pt x="4610824" y="0"/>
                </a:lnTo>
                <a:lnTo>
                  <a:pt x="4610824" y="4692951"/>
                </a:lnTo>
                <a:lnTo>
                  <a:pt x="0" y="4692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23703" y="5953029"/>
            <a:ext cx="4701943" cy="4635333"/>
          </a:xfrm>
          <a:custGeom>
            <a:avLst/>
            <a:gdLst/>
            <a:ahLst/>
            <a:cxnLst/>
            <a:rect r="r" b="b" t="t" l="l"/>
            <a:pathLst>
              <a:path h="4635333" w="4701943">
                <a:moveTo>
                  <a:pt x="0" y="0"/>
                </a:moveTo>
                <a:lnTo>
                  <a:pt x="4701943" y="0"/>
                </a:lnTo>
                <a:lnTo>
                  <a:pt x="4701943" y="4635333"/>
                </a:lnTo>
                <a:lnTo>
                  <a:pt x="0" y="463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8362" y="117114"/>
            <a:ext cx="2861802" cy="772232"/>
          </a:xfrm>
          <a:custGeom>
            <a:avLst/>
            <a:gdLst/>
            <a:ahLst/>
            <a:cxnLst/>
            <a:rect r="r" b="b" t="t" l="l"/>
            <a:pathLst>
              <a:path h="772232" w="2861802">
                <a:moveTo>
                  <a:pt x="0" y="0"/>
                </a:moveTo>
                <a:lnTo>
                  <a:pt x="2861802" y="0"/>
                </a:lnTo>
                <a:lnTo>
                  <a:pt x="2861802" y="772232"/>
                </a:lnTo>
                <a:lnTo>
                  <a:pt x="0" y="77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726" r="0" b="-13486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738362" y="1125360"/>
            <a:ext cx="1073729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Alcance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38362" y="4177585"/>
            <a:ext cx="4526699" cy="602564"/>
            <a:chOff x="0" y="0"/>
            <a:chExt cx="6035599" cy="80341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61985" y="0"/>
              <a:ext cx="5873614" cy="803418"/>
              <a:chOff x="0" y="0"/>
              <a:chExt cx="1160220" cy="1587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60220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1160220">
                    <a:moveTo>
                      <a:pt x="0" y="0"/>
                    </a:moveTo>
                    <a:lnTo>
                      <a:pt x="1160220" y="0"/>
                    </a:lnTo>
                    <a:lnTo>
                      <a:pt x="1160220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160220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34679"/>
              <a:ext cx="6035599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Nutrición especializada: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9850" y="2497354"/>
            <a:ext cx="3108684" cy="525217"/>
            <a:chOff x="0" y="0"/>
            <a:chExt cx="4144912" cy="70029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144912" cy="700290"/>
              <a:chOff x="0" y="0"/>
              <a:chExt cx="818748" cy="13832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8748" cy="138329"/>
              </a:xfrm>
              <a:custGeom>
                <a:avLst/>
                <a:gdLst/>
                <a:ahLst/>
                <a:cxnLst/>
                <a:rect r="r" b="b" t="t" l="l"/>
                <a:pathLst>
                  <a:path h="138329" w="818748">
                    <a:moveTo>
                      <a:pt x="0" y="0"/>
                    </a:moveTo>
                    <a:lnTo>
                      <a:pt x="818748" y="0"/>
                    </a:lnTo>
                    <a:lnTo>
                      <a:pt x="818748" y="138329"/>
                    </a:lnTo>
                    <a:lnTo>
                      <a:pt x="0" y="138329"/>
                    </a:lnTo>
                    <a:close/>
                  </a:path>
                </a:pathLst>
              </a:custGeom>
              <a:solidFill>
                <a:srgbClr val="D4E78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818748" cy="195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21351"/>
              <a:ext cx="3491766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Telemedicina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9850" y="5056374"/>
            <a:ext cx="8284150" cy="525217"/>
            <a:chOff x="0" y="0"/>
            <a:chExt cx="11045533" cy="70029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1045533" cy="700290"/>
              <a:chOff x="0" y="0"/>
              <a:chExt cx="2181834" cy="13832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81834" cy="138329"/>
              </a:xfrm>
              <a:custGeom>
                <a:avLst/>
                <a:gdLst/>
                <a:ahLst/>
                <a:cxnLst/>
                <a:rect r="r" b="b" t="t" l="l"/>
                <a:pathLst>
                  <a:path h="138329" w="2181834">
                    <a:moveTo>
                      <a:pt x="0" y="0"/>
                    </a:moveTo>
                    <a:lnTo>
                      <a:pt x="2181834" y="0"/>
                    </a:lnTo>
                    <a:lnTo>
                      <a:pt x="2181834" y="138329"/>
                    </a:lnTo>
                    <a:lnTo>
                      <a:pt x="0" y="138329"/>
                    </a:lnTo>
                    <a:close/>
                  </a:path>
                </a:pathLst>
              </a:custGeom>
              <a:solidFill>
                <a:srgbClr val="FFB3B3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181834" cy="195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-5879"/>
              <a:ext cx="10393052" cy="616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Analitica con IA y gestión de examenes médicos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38362" y="5819716"/>
            <a:ext cx="1073729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Fuera de alcance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38362" y="7276406"/>
            <a:ext cx="6723570" cy="630027"/>
            <a:chOff x="0" y="0"/>
            <a:chExt cx="8964761" cy="84003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964761" cy="840036"/>
              <a:chOff x="0" y="0"/>
              <a:chExt cx="1770817" cy="1659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70817" cy="165933"/>
              </a:xfrm>
              <a:custGeom>
                <a:avLst/>
                <a:gdLst/>
                <a:ahLst/>
                <a:cxnLst/>
                <a:rect r="r" b="b" t="t" l="l"/>
                <a:pathLst>
                  <a:path h="165933" w="1770817">
                    <a:moveTo>
                      <a:pt x="0" y="0"/>
                    </a:moveTo>
                    <a:lnTo>
                      <a:pt x="1770817" y="0"/>
                    </a:lnTo>
                    <a:lnTo>
                      <a:pt x="1770817" y="165933"/>
                    </a:lnTo>
                    <a:lnTo>
                      <a:pt x="0" y="165933"/>
                    </a:lnTo>
                    <a:close/>
                  </a:path>
                </a:pathLst>
              </a:custGeom>
              <a:solidFill>
                <a:srgbClr val="D4E78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770817" cy="2230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52988"/>
              <a:ext cx="8799592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Otras áreas de medicina relacionadas 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9609" y="8048145"/>
            <a:ext cx="8892065" cy="1582792"/>
            <a:chOff x="0" y="0"/>
            <a:chExt cx="11856087" cy="211039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318197" y="0"/>
              <a:ext cx="11537890" cy="1712099"/>
              <a:chOff x="0" y="0"/>
              <a:chExt cx="2279089" cy="33819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279089" cy="338192"/>
              </a:xfrm>
              <a:custGeom>
                <a:avLst/>
                <a:gdLst/>
                <a:ahLst/>
                <a:cxnLst/>
                <a:rect r="r" b="b" t="t" l="l"/>
                <a:pathLst>
                  <a:path h="338192" w="2279089">
                    <a:moveTo>
                      <a:pt x="0" y="0"/>
                    </a:moveTo>
                    <a:lnTo>
                      <a:pt x="2279089" y="0"/>
                    </a:lnTo>
                    <a:lnTo>
                      <a:pt x="2279089" y="338192"/>
                    </a:lnTo>
                    <a:lnTo>
                      <a:pt x="0" y="338192"/>
                    </a:lnTo>
                    <a:close/>
                  </a:path>
                </a:pathLst>
              </a:custGeom>
              <a:solidFill>
                <a:srgbClr val="FFDB7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2279089" cy="3953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201579"/>
              <a:ext cx="11856087" cy="190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Otras especialidades: Patologías hepáticas, Hospitalizados, TCA, veganos, vegetarianos</a:t>
              </a: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8362" y="3298797"/>
            <a:ext cx="3526224" cy="602564"/>
            <a:chOff x="0" y="0"/>
            <a:chExt cx="4701632" cy="803418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126184" y="0"/>
              <a:ext cx="4575448" cy="803418"/>
              <a:chOff x="0" y="0"/>
              <a:chExt cx="903792" cy="158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03792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903792">
                    <a:moveTo>
                      <a:pt x="0" y="0"/>
                    </a:moveTo>
                    <a:lnTo>
                      <a:pt x="903792" y="0"/>
                    </a:lnTo>
                    <a:lnTo>
                      <a:pt x="903792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FFDB7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903792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34679"/>
              <a:ext cx="4354297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Planes de Pago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65278" y="4177585"/>
            <a:ext cx="2578722" cy="602564"/>
            <a:chOff x="0" y="0"/>
            <a:chExt cx="3438297" cy="803418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47173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647173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0" y="34679"/>
              <a:ext cx="3438297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Pediatría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65278" y="3455195"/>
            <a:ext cx="2578722" cy="602564"/>
            <a:chOff x="0" y="0"/>
            <a:chExt cx="3438297" cy="803418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47173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647173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0" y="34679"/>
              <a:ext cx="3438297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Embarazo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565278" y="2721290"/>
            <a:ext cx="2578722" cy="602564"/>
            <a:chOff x="0" y="0"/>
            <a:chExt cx="3438297" cy="803418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647173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647173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0" y="34679"/>
              <a:ext cx="3438297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E.Renal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565278" y="1985376"/>
            <a:ext cx="2578722" cy="602564"/>
            <a:chOff x="0" y="0"/>
            <a:chExt cx="3438297" cy="803418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647173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647173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0" y="34679"/>
              <a:ext cx="3438297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Diabetes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65278" y="1258988"/>
            <a:ext cx="2578722" cy="602564"/>
            <a:chOff x="0" y="0"/>
            <a:chExt cx="3438297" cy="803418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647173" cy="158700"/>
              </a:xfrm>
              <a:custGeom>
                <a:avLst/>
                <a:gdLst/>
                <a:ahLst/>
                <a:cxnLst/>
                <a:rect r="r" b="b" t="t" l="l"/>
                <a:pathLst>
                  <a:path h="158700" w="647173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0" y="34679"/>
              <a:ext cx="3438297" cy="638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Deportistas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flipV="true">
            <a:off x="5265061" y="1653130"/>
            <a:ext cx="1408554" cy="28257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flipV="true">
            <a:off x="5265061" y="2286658"/>
            <a:ext cx="1261711" cy="219220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flipV="true">
            <a:off x="5265061" y="2935326"/>
            <a:ext cx="1300217" cy="15435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V="true">
            <a:off x="5265061" y="3629409"/>
            <a:ext cx="1251420" cy="8494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5265061" y="4416352"/>
            <a:ext cx="1249054" cy="625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387" y="2490709"/>
            <a:ext cx="9276387" cy="8025068"/>
            <a:chOff x="0" y="0"/>
            <a:chExt cx="1616799" cy="1398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799" cy="1398705"/>
            </a:xfrm>
            <a:custGeom>
              <a:avLst/>
              <a:gdLst/>
              <a:ahLst/>
              <a:cxnLst/>
              <a:rect r="r" b="b" t="t" l="l"/>
              <a:pathLst>
                <a:path h="1398705" w="1616799">
                  <a:moveTo>
                    <a:pt x="0" y="0"/>
                  </a:moveTo>
                  <a:lnTo>
                    <a:pt x="1616799" y="0"/>
                  </a:lnTo>
                  <a:lnTo>
                    <a:pt x="1616799" y="1398705"/>
                  </a:lnTo>
                  <a:lnTo>
                    <a:pt x="0" y="1398705"/>
                  </a:lnTo>
                  <a:close/>
                </a:path>
              </a:pathLst>
            </a:custGeom>
            <a:blipFill>
              <a:blip r:embed="rId2"/>
              <a:stretch>
                <a:fillRect l="-14923" t="0" r="-1492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2490709"/>
            <a:ext cx="9276387" cy="8025068"/>
            <a:chOff x="0" y="0"/>
            <a:chExt cx="1616799" cy="1398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6799" cy="1398705"/>
            </a:xfrm>
            <a:custGeom>
              <a:avLst/>
              <a:gdLst/>
              <a:ahLst/>
              <a:cxnLst/>
              <a:rect r="r" b="b" t="t" l="l"/>
              <a:pathLst>
                <a:path h="1398705" w="1616799">
                  <a:moveTo>
                    <a:pt x="0" y="0"/>
                  </a:moveTo>
                  <a:lnTo>
                    <a:pt x="1616799" y="0"/>
                  </a:lnTo>
                  <a:lnTo>
                    <a:pt x="1616799" y="1398705"/>
                  </a:lnTo>
                  <a:lnTo>
                    <a:pt x="0" y="1398705"/>
                  </a:lnTo>
                  <a:close/>
                </a:path>
              </a:pathLst>
            </a:custGeom>
            <a:blipFill>
              <a:blip r:embed="rId3"/>
              <a:stretch>
                <a:fillRect l="-14923" t="0" r="-149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3800" y="3427029"/>
            <a:ext cx="7413950" cy="6259243"/>
            <a:chOff x="0" y="0"/>
            <a:chExt cx="1952645" cy="1648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2645" cy="1648525"/>
            </a:xfrm>
            <a:custGeom>
              <a:avLst/>
              <a:gdLst/>
              <a:ahLst/>
              <a:cxnLst/>
              <a:rect r="r" b="b" t="t" l="l"/>
              <a:pathLst>
                <a:path h="1648525" w="1952645">
                  <a:moveTo>
                    <a:pt x="0" y="0"/>
                  </a:moveTo>
                  <a:lnTo>
                    <a:pt x="1952645" y="0"/>
                  </a:lnTo>
                  <a:lnTo>
                    <a:pt x="1952645" y="1648525"/>
                  </a:lnTo>
                  <a:lnTo>
                    <a:pt x="0" y="1648525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52645" cy="170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20250" y="3427029"/>
            <a:ext cx="8135848" cy="6259243"/>
            <a:chOff x="0" y="0"/>
            <a:chExt cx="2142775" cy="1648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2775" cy="1648525"/>
            </a:xfrm>
            <a:custGeom>
              <a:avLst/>
              <a:gdLst/>
              <a:ahLst/>
              <a:cxnLst/>
              <a:rect r="r" b="b" t="t" l="l"/>
              <a:pathLst>
                <a:path h="1648525" w="2142775">
                  <a:moveTo>
                    <a:pt x="0" y="0"/>
                  </a:moveTo>
                  <a:lnTo>
                    <a:pt x="2142775" y="0"/>
                  </a:lnTo>
                  <a:lnTo>
                    <a:pt x="2142775" y="1648525"/>
                  </a:lnTo>
                  <a:lnTo>
                    <a:pt x="0" y="1648525"/>
                  </a:lnTo>
                  <a:close/>
                </a:path>
              </a:pathLst>
            </a:custGeom>
            <a:solidFill>
              <a:srgbClr val="FFB3B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2775" cy="170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18788" y="3671497"/>
            <a:ext cx="3430848" cy="52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Objetivo General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5324" y="4555053"/>
            <a:ext cx="6684606" cy="5038391"/>
            <a:chOff x="0" y="0"/>
            <a:chExt cx="8912807" cy="671785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8912807" cy="285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Complementar nuestra plataforma digital integral que facilite la gestión y el seguimiento de las atenciones nutricionales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149155"/>
              <a:ext cx="8912807" cy="356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Aplicación móvil para el paciente y nutricionista que permita acceder de manera sencilla a sus diagnósticos, pautas alimentarias, minutas e indicaciones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99411" y="4733425"/>
            <a:ext cx="7694476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Centralizar la gestión de los pacientes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Facilitar el seguimiento de la evolución nutricional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Extender la solución a diferentes necesidades nutricionales</a:t>
            </a:r>
          </a:p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Aprovechar la analítica y la inteligencia artificial para apoyar el trabajo del profesional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33304" y="3671497"/>
            <a:ext cx="3697778" cy="52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Objetivos Especificos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73717" y="717058"/>
            <a:ext cx="12540566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Objetivos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07433" y="1761350"/>
            <a:ext cx="5812954" cy="7317050"/>
            <a:chOff x="0" y="0"/>
            <a:chExt cx="1300291" cy="163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291" cy="1636740"/>
            </a:xfrm>
            <a:custGeom>
              <a:avLst/>
              <a:gdLst/>
              <a:ahLst/>
              <a:cxnLst/>
              <a:rect r="r" b="b" t="t" l="l"/>
              <a:pathLst>
                <a:path h="1636740" w="1300291">
                  <a:moveTo>
                    <a:pt x="0" y="0"/>
                  </a:moveTo>
                  <a:lnTo>
                    <a:pt x="1300291" y="0"/>
                  </a:lnTo>
                  <a:lnTo>
                    <a:pt x="1300291" y="1636740"/>
                  </a:lnTo>
                  <a:lnTo>
                    <a:pt x="0" y="1636740"/>
                  </a:lnTo>
                  <a:close/>
                </a:path>
              </a:pathLst>
            </a:custGeom>
            <a:blipFill>
              <a:blip r:embed="rId2"/>
              <a:stretch>
                <a:fillRect l="-33916" t="0" r="-3391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75046" y="7935518"/>
            <a:ext cx="909562" cy="1322782"/>
            <a:chOff x="0" y="0"/>
            <a:chExt cx="239555" cy="348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9555" cy="348387"/>
            </a:xfrm>
            <a:custGeom>
              <a:avLst/>
              <a:gdLst/>
              <a:ahLst/>
              <a:cxnLst/>
              <a:rect r="r" b="b" t="t" l="l"/>
              <a:pathLst>
                <a:path h="348387" w="239555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DB7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8438" y="1656999"/>
            <a:ext cx="909562" cy="1322782"/>
            <a:chOff x="0" y="0"/>
            <a:chExt cx="239555" cy="3483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555" cy="348387"/>
            </a:xfrm>
            <a:custGeom>
              <a:avLst/>
              <a:gdLst/>
              <a:ahLst/>
              <a:cxnLst/>
              <a:rect r="r" b="b" t="t" l="l"/>
              <a:pathLst>
                <a:path h="348387" w="239555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B3B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342" y="5419875"/>
            <a:ext cx="12464587" cy="4352775"/>
          </a:xfrm>
          <a:custGeom>
            <a:avLst/>
            <a:gdLst/>
            <a:ahLst/>
            <a:cxnLst/>
            <a:rect r="r" b="b" t="t" l="l"/>
            <a:pathLst>
              <a:path h="4352775" w="12464587">
                <a:moveTo>
                  <a:pt x="0" y="0"/>
                </a:moveTo>
                <a:lnTo>
                  <a:pt x="12464587" y="0"/>
                </a:lnTo>
                <a:lnTo>
                  <a:pt x="12464587" y="4352775"/>
                </a:lnTo>
                <a:lnTo>
                  <a:pt x="0" y="4352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4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6672" y="480979"/>
            <a:ext cx="9632922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Metodología de trabajo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6672" y="2594894"/>
            <a:ext cx="9534111" cy="340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Sprints de desarrollo cada semana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Sprint Planning inicio de semana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Sprint Retrospective término de semana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Software Clickup para gestión de tareas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Software Figma para diseño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099322" y="5669270"/>
            <a:ext cx="159367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433647" y="5466510"/>
            <a:ext cx="405520" cy="40552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99322" y="599978"/>
            <a:ext cx="11882342" cy="220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0"/>
              </a:lnSpc>
              <a:spcBef>
                <a:spcPct val="0"/>
              </a:spcBef>
            </a:pPr>
            <a:r>
              <a:rPr lang="en-US" sz="6335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Cronograma para el d</a:t>
            </a:r>
            <a:r>
              <a:rPr lang="en-US" sz="6335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esarrollo</a:t>
            </a:r>
          </a:p>
          <a:p>
            <a:pPr algn="l">
              <a:lnSpc>
                <a:spcPts val="8870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6189330"/>
            <a:ext cx="5215415" cy="3266020"/>
            <a:chOff x="0" y="0"/>
            <a:chExt cx="1373607" cy="8601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3607" cy="860186"/>
            </a:xfrm>
            <a:custGeom>
              <a:avLst/>
              <a:gdLst/>
              <a:ahLst/>
              <a:cxnLst/>
              <a:rect r="r" b="b" t="t" l="l"/>
              <a:pathLst>
                <a:path h="860186" w="1373607">
                  <a:moveTo>
                    <a:pt x="89066" y="0"/>
                  </a:moveTo>
                  <a:lnTo>
                    <a:pt x="1284541" y="0"/>
                  </a:lnTo>
                  <a:cubicBezTo>
                    <a:pt x="1308163" y="0"/>
                    <a:pt x="1330817" y="9384"/>
                    <a:pt x="1347520" y="26087"/>
                  </a:cubicBezTo>
                  <a:cubicBezTo>
                    <a:pt x="1364224" y="42790"/>
                    <a:pt x="1373607" y="65444"/>
                    <a:pt x="1373607" y="89066"/>
                  </a:cubicBezTo>
                  <a:lnTo>
                    <a:pt x="1373607" y="771121"/>
                  </a:lnTo>
                  <a:cubicBezTo>
                    <a:pt x="1373607" y="820310"/>
                    <a:pt x="1333731" y="860186"/>
                    <a:pt x="1284541" y="860186"/>
                  </a:cubicBezTo>
                  <a:lnTo>
                    <a:pt x="89066" y="860186"/>
                  </a:lnTo>
                  <a:cubicBezTo>
                    <a:pt x="65444" y="860186"/>
                    <a:pt x="42790" y="850803"/>
                    <a:pt x="26087" y="834100"/>
                  </a:cubicBezTo>
                  <a:cubicBezTo>
                    <a:pt x="9384" y="817397"/>
                    <a:pt x="0" y="794742"/>
                    <a:pt x="0" y="771121"/>
                  </a:cubicBezTo>
                  <a:lnTo>
                    <a:pt x="0" y="89066"/>
                  </a:lnTo>
                  <a:cubicBezTo>
                    <a:pt x="0" y="65444"/>
                    <a:pt x="9384" y="42790"/>
                    <a:pt x="26087" y="26087"/>
                  </a:cubicBezTo>
                  <a:cubicBezTo>
                    <a:pt x="42790" y="9384"/>
                    <a:pt x="65444" y="0"/>
                    <a:pt x="890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73607" cy="91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1: Definición de Proyecto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Definición del proyecto, repositorio GitHub, documentación inicial APT, metodología.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05592" y="2124583"/>
            <a:ext cx="5215415" cy="3266020"/>
            <a:chOff x="0" y="0"/>
            <a:chExt cx="1373607" cy="8601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3607" cy="860186"/>
            </a:xfrm>
            <a:custGeom>
              <a:avLst/>
              <a:gdLst/>
              <a:ahLst/>
              <a:cxnLst/>
              <a:rect r="r" b="b" t="t" l="l"/>
              <a:pathLst>
                <a:path h="860186" w="1373607">
                  <a:moveTo>
                    <a:pt x="89066" y="0"/>
                  </a:moveTo>
                  <a:lnTo>
                    <a:pt x="1284541" y="0"/>
                  </a:lnTo>
                  <a:cubicBezTo>
                    <a:pt x="1308163" y="0"/>
                    <a:pt x="1330817" y="9384"/>
                    <a:pt x="1347520" y="26087"/>
                  </a:cubicBezTo>
                  <a:cubicBezTo>
                    <a:pt x="1364224" y="42790"/>
                    <a:pt x="1373607" y="65444"/>
                    <a:pt x="1373607" y="89066"/>
                  </a:cubicBezTo>
                  <a:lnTo>
                    <a:pt x="1373607" y="771121"/>
                  </a:lnTo>
                  <a:cubicBezTo>
                    <a:pt x="1373607" y="820310"/>
                    <a:pt x="1333731" y="860186"/>
                    <a:pt x="1284541" y="860186"/>
                  </a:cubicBezTo>
                  <a:lnTo>
                    <a:pt x="89066" y="860186"/>
                  </a:lnTo>
                  <a:cubicBezTo>
                    <a:pt x="65444" y="860186"/>
                    <a:pt x="42790" y="850803"/>
                    <a:pt x="26087" y="834100"/>
                  </a:cubicBezTo>
                  <a:cubicBezTo>
                    <a:pt x="9384" y="817397"/>
                    <a:pt x="0" y="794742"/>
                    <a:pt x="0" y="771121"/>
                  </a:cubicBezTo>
                  <a:lnTo>
                    <a:pt x="0" y="89066"/>
                  </a:lnTo>
                  <a:cubicBezTo>
                    <a:pt x="0" y="65444"/>
                    <a:pt x="9384" y="42790"/>
                    <a:pt x="26087" y="26087"/>
                  </a:cubicBezTo>
                  <a:cubicBezTo>
                    <a:pt x="42790" y="9384"/>
                    <a:pt x="65444" y="0"/>
                    <a:pt x="890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73607" cy="91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2: Desarrollo de Proyecto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Desarrollo backend (JWT), pasarela de pagos, lógica clínica por nichos, motor OCR con IA, telemedicina y módulo de verificación.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38480" y="5466510"/>
            <a:ext cx="405520" cy="40552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43885" y="6097475"/>
            <a:ext cx="5215415" cy="3266020"/>
            <a:chOff x="0" y="0"/>
            <a:chExt cx="1373607" cy="8601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3607" cy="860186"/>
            </a:xfrm>
            <a:custGeom>
              <a:avLst/>
              <a:gdLst/>
              <a:ahLst/>
              <a:cxnLst/>
              <a:rect r="r" b="b" t="t" l="l"/>
              <a:pathLst>
                <a:path h="860186" w="1373607">
                  <a:moveTo>
                    <a:pt x="89066" y="0"/>
                  </a:moveTo>
                  <a:lnTo>
                    <a:pt x="1284541" y="0"/>
                  </a:lnTo>
                  <a:cubicBezTo>
                    <a:pt x="1308163" y="0"/>
                    <a:pt x="1330817" y="9384"/>
                    <a:pt x="1347520" y="26087"/>
                  </a:cubicBezTo>
                  <a:cubicBezTo>
                    <a:pt x="1364224" y="42790"/>
                    <a:pt x="1373607" y="65444"/>
                    <a:pt x="1373607" y="89066"/>
                  </a:cubicBezTo>
                  <a:lnTo>
                    <a:pt x="1373607" y="771121"/>
                  </a:lnTo>
                  <a:cubicBezTo>
                    <a:pt x="1373607" y="820310"/>
                    <a:pt x="1333731" y="860186"/>
                    <a:pt x="1284541" y="860186"/>
                  </a:cubicBezTo>
                  <a:lnTo>
                    <a:pt x="89066" y="860186"/>
                  </a:lnTo>
                  <a:cubicBezTo>
                    <a:pt x="65444" y="860186"/>
                    <a:pt x="42790" y="850803"/>
                    <a:pt x="26087" y="834100"/>
                  </a:cubicBezTo>
                  <a:cubicBezTo>
                    <a:pt x="9384" y="817397"/>
                    <a:pt x="0" y="794742"/>
                    <a:pt x="0" y="771121"/>
                  </a:cubicBezTo>
                  <a:lnTo>
                    <a:pt x="0" y="89066"/>
                  </a:lnTo>
                  <a:cubicBezTo>
                    <a:pt x="0" y="65444"/>
                    <a:pt x="9384" y="42790"/>
                    <a:pt x="26087" y="26087"/>
                  </a:cubicBezTo>
                  <a:cubicBezTo>
                    <a:pt x="42790" y="9384"/>
                    <a:pt x="65444" y="0"/>
                    <a:pt x="890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73607" cy="91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3: Presentación y Cierre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Ajustes y correcciones, demostración ante la comisión evaluadora y consolidación académica.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48832" y="5466510"/>
            <a:ext cx="405520" cy="40552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70094" y="1551886"/>
            <a:ext cx="9540152" cy="0"/>
          </a:xfrm>
          <a:prstGeom prst="line">
            <a:avLst/>
          </a:prstGeom>
          <a:ln cap="flat" w="38100">
            <a:solidFill>
              <a:srgbClr val="D4E78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84787" y="1671763"/>
            <a:ext cx="7918426" cy="8000060"/>
          </a:xfrm>
          <a:custGeom>
            <a:avLst/>
            <a:gdLst/>
            <a:ahLst/>
            <a:cxnLst/>
            <a:rect r="r" b="b" t="t" l="l"/>
            <a:pathLst>
              <a:path h="8000060" w="7918426">
                <a:moveTo>
                  <a:pt x="0" y="0"/>
                </a:moveTo>
                <a:lnTo>
                  <a:pt x="7918426" y="0"/>
                </a:lnTo>
                <a:lnTo>
                  <a:pt x="7918426" y="8000060"/>
                </a:lnTo>
                <a:lnTo>
                  <a:pt x="0" y="8000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0094" y="275348"/>
            <a:ext cx="6663576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Arquitectura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387" y="9772650"/>
            <a:ext cx="18552773" cy="1028700"/>
            <a:chOff x="0" y="0"/>
            <a:chExt cx="4886327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6327" cy="270933"/>
            </a:xfrm>
            <a:custGeom>
              <a:avLst/>
              <a:gdLst/>
              <a:ahLst/>
              <a:cxnLst/>
              <a:rect r="r" b="b" t="t" l="l"/>
              <a:pathLst>
                <a:path h="270933" w="4886327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64410" y="5827264"/>
            <a:ext cx="6384855" cy="1028700"/>
            <a:chOff x="0" y="0"/>
            <a:chExt cx="1681608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1608" cy="270933"/>
            </a:xfrm>
            <a:custGeom>
              <a:avLst/>
              <a:gdLst/>
              <a:ahLst/>
              <a:cxnLst/>
              <a:rect r="r" b="b" t="t" l="l"/>
              <a:pathLst>
                <a:path h="270933" w="1681608">
                  <a:moveTo>
                    <a:pt x="0" y="0"/>
                  </a:moveTo>
                  <a:lnTo>
                    <a:pt x="1681608" y="0"/>
                  </a:lnTo>
                  <a:lnTo>
                    <a:pt x="168160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DB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81608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47822" y="1429778"/>
            <a:ext cx="4663440" cy="5627642"/>
            <a:chOff x="0" y="0"/>
            <a:chExt cx="812800" cy="980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980853"/>
            </a:xfrm>
            <a:custGeom>
              <a:avLst/>
              <a:gdLst/>
              <a:ahLst/>
              <a:cxnLst/>
              <a:rect r="r" b="b" t="t" l="l"/>
              <a:pathLst>
                <a:path h="98085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80853"/>
                  </a:lnTo>
                  <a:lnTo>
                    <a:pt x="0" y="980853"/>
                  </a:lnTo>
                  <a:close/>
                </a:path>
              </a:pathLst>
            </a:custGeom>
            <a:blipFill>
              <a:blip r:embed="rId2"/>
              <a:stretch>
                <a:fillRect l="-13774" t="0" r="-10076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6738" y="3630658"/>
            <a:ext cx="4663440" cy="5627642"/>
            <a:chOff x="0" y="0"/>
            <a:chExt cx="812800" cy="980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80853"/>
            </a:xfrm>
            <a:custGeom>
              <a:avLst/>
              <a:gdLst/>
              <a:ahLst/>
              <a:cxnLst/>
              <a:rect r="r" b="b" t="t" l="l"/>
              <a:pathLst>
                <a:path h="98085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80853"/>
                  </a:lnTo>
                  <a:lnTo>
                    <a:pt x="0" y="980853"/>
                  </a:lnTo>
                  <a:close/>
                </a:path>
              </a:pathLst>
            </a:custGeom>
            <a:blipFill>
              <a:blip r:embed="rId3"/>
              <a:stretch>
                <a:fillRect l="-53883" t="0" r="-2758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64410" y="4458223"/>
            <a:ext cx="6384855" cy="1108158"/>
            <a:chOff x="0" y="0"/>
            <a:chExt cx="1681608" cy="2918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1608" cy="291860"/>
            </a:xfrm>
            <a:custGeom>
              <a:avLst/>
              <a:gdLst/>
              <a:ahLst/>
              <a:cxnLst/>
              <a:rect r="r" b="b" t="t" l="l"/>
              <a:pathLst>
                <a:path h="291860" w="1681608">
                  <a:moveTo>
                    <a:pt x="0" y="0"/>
                  </a:moveTo>
                  <a:lnTo>
                    <a:pt x="1681608" y="0"/>
                  </a:lnTo>
                  <a:lnTo>
                    <a:pt x="1681608" y="291860"/>
                  </a:lnTo>
                  <a:lnTo>
                    <a:pt x="0" y="291860"/>
                  </a:lnTo>
                  <a:close/>
                </a:path>
              </a:pathLst>
            </a:custGeom>
            <a:solidFill>
              <a:srgbClr val="FFB3B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81608" cy="34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64410" y="3553965"/>
            <a:ext cx="5239881" cy="45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Muchas Gracias!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Y alimentate bien!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89834" y="-442817"/>
            <a:ext cx="2567400" cy="2567400"/>
          </a:xfrm>
          <a:custGeom>
            <a:avLst/>
            <a:gdLst/>
            <a:ahLst/>
            <a:cxnLst/>
            <a:rect r="r" b="b" t="t" l="l"/>
            <a:pathLst>
              <a:path h="2567400" w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7296" y="202531"/>
            <a:ext cx="5498750" cy="1483789"/>
          </a:xfrm>
          <a:custGeom>
            <a:avLst/>
            <a:gdLst/>
            <a:ahLst/>
            <a:cxnLst/>
            <a:rect r="r" b="b" t="t" l="l"/>
            <a:pathLst>
              <a:path h="1483789" w="5498750">
                <a:moveTo>
                  <a:pt x="0" y="0"/>
                </a:moveTo>
                <a:lnTo>
                  <a:pt x="5498750" y="0"/>
                </a:lnTo>
                <a:lnTo>
                  <a:pt x="5498750" y="1483788"/>
                </a:lnTo>
                <a:lnTo>
                  <a:pt x="0" y="1483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726" r="0" b="-134861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DAHUXxu_veY</dc:identifier>
  <dcterms:modified xsi:type="dcterms:W3CDTF">2011-08-01T06:04:30Z</dcterms:modified>
  <cp:revision>1</cp:revision>
  <dc:title>White and Green Modern Simple Healthy Food Presentation</dc:title>
</cp:coreProperties>
</file>