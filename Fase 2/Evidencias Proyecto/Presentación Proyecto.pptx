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Lustria" panose="020B0604020202020204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20B0604020202020204" charset="0"/>
      <p:regular r:id="rId12"/>
    </p:embeddedFont>
    <p:embeddedFont>
      <p:font typeface="Solomon Sans" panose="020B0604020202020204" charset="0"/>
      <p:regular r:id="rId13"/>
    </p:embeddedFont>
    <p:embeddedFont>
      <p:font typeface="Solomon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9" d="100"/>
          <a:sy n="99" d="100"/>
        </p:scale>
        <p:origin x="6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387" y="9772650"/>
            <a:ext cx="18552773" cy="1028700"/>
            <a:chOff x="0" y="0"/>
            <a:chExt cx="4886327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6327" cy="270933"/>
            </a:xfrm>
            <a:custGeom>
              <a:avLst/>
              <a:gdLst/>
              <a:ahLst/>
              <a:cxnLst/>
              <a:rect l="l" t="t" r="r" b="b"/>
              <a:pathLst>
                <a:path w="4886327" h="270933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7502558"/>
            <a:ext cx="8623907" cy="1389649"/>
            <a:chOff x="0" y="0"/>
            <a:chExt cx="2271317" cy="365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71317" cy="365998"/>
            </a:xfrm>
            <a:custGeom>
              <a:avLst/>
              <a:gdLst/>
              <a:ahLst/>
              <a:cxnLst/>
              <a:rect l="l" t="t" r="r" b="b"/>
              <a:pathLst>
                <a:path w="2271317" h="365998">
                  <a:moveTo>
                    <a:pt x="0" y="0"/>
                  </a:moveTo>
                  <a:lnTo>
                    <a:pt x="2271317" y="0"/>
                  </a:lnTo>
                  <a:lnTo>
                    <a:pt x="2271317" y="365998"/>
                  </a:lnTo>
                  <a:lnTo>
                    <a:pt x="0" y="365998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271317" cy="423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35122" y="1789416"/>
            <a:ext cx="3928432" cy="5713142"/>
            <a:chOff x="0" y="0"/>
            <a:chExt cx="812800" cy="11820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182060"/>
            </a:xfrm>
            <a:custGeom>
              <a:avLst/>
              <a:gdLst/>
              <a:ahLst/>
              <a:cxnLst/>
              <a:rect l="l" t="t" r="r" b="b"/>
              <a:pathLst>
                <a:path w="812800" h="1182060">
                  <a:moveTo>
                    <a:pt x="0" y="0"/>
                  </a:moveTo>
                  <a:lnTo>
                    <a:pt x="812800" y="0"/>
                  </a:lnTo>
                  <a:lnTo>
                    <a:pt x="812800" y="1182060"/>
                  </a:lnTo>
                  <a:lnTo>
                    <a:pt x="0" y="1182060"/>
                  </a:lnTo>
                  <a:close/>
                </a:path>
              </a:pathLst>
            </a:custGeom>
            <a:blipFill>
              <a:blip r:embed="rId2"/>
              <a:stretch>
                <a:fillRect t="-1603" b="-160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182989" y="3210886"/>
            <a:ext cx="4300107" cy="6253671"/>
            <a:chOff x="0" y="0"/>
            <a:chExt cx="812800" cy="11820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182060"/>
            </a:xfrm>
            <a:custGeom>
              <a:avLst/>
              <a:gdLst/>
              <a:ahLst/>
              <a:cxnLst/>
              <a:rect l="l" t="t" r="r" b="b"/>
              <a:pathLst>
                <a:path w="812800" h="1182060">
                  <a:moveTo>
                    <a:pt x="0" y="0"/>
                  </a:moveTo>
                  <a:lnTo>
                    <a:pt x="812800" y="0"/>
                  </a:lnTo>
                  <a:lnTo>
                    <a:pt x="812800" y="1182060"/>
                  </a:lnTo>
                  <a:lnTo>
                    <a:pt x="0" y="1182060"/>
                  </a:lnTo>
                  <a:close/>
                </a:path>
              </a:pathLst>
            </a:custGeom>
            <a:blipFill>
              <a:blip r:embed="rId3"/>
              <a:stretch>
                <a:fillRect t="-1570" b="-157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44557" y="8022858"/>
            <a:ext cx="909562" cy="1322782"/>
            <a:chOff x="0" y="0"/>
            <a:chExt cx="239555" cy="3483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9555" cy="348387"/>
            </a:xfrm>
            <a:custGeom>
              <a:avLst/>
              <a:gdLst/>
              <a:ahLst/>
              <a:cxnLst/>
              <a:rect l="l" t="t" r="r" b="b"/>
              <a:pathLst>
                <a:path w="239555" h="348387">
                  <a:moveTo>
                    <a:pt x="0" y="0"/>
                  </a:moveTo>
                  <a:lnTo>
                    <a:pt x="239555" y="0"/>
                  </a:lnTo>
                  <a:lnTo>
                    <a:pt x="239555" y="348387"/>
                  </a:lnTo>
                  <a:lnTo>
                    <a:pt x="0" y="348387"/>
                  </a:lnTo>
                  <a:close/>
                </a:path>
              </a:pathLst>
            </a:custGeom>
            <a:solidFill>
              <a:srgbClr val="FFDB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39555" cy="40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573534" y="1789416"/>
            <a:ext cx="909562" cy="1322782"/>
            <a:chOff x="0" y="0"/>
            <a:chExt cx="239555" cy="34838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9555" cy="348387"/>
            </a:xfrm>
            <a:custGeom>
              <a:avLst/>
              <a:gdLst/>
              <a:ahLst/>
              <a:cxnLst/>
              <a:rect l="l" t="t" r="r" b="b"/>
              <a:pathLst>
                <a:path w="239555" h="348387">
                  <a:moveTo>
                    <a:pt x="0" y="0"/>
                  </a:moveTo>
                  <a:lnTo>
                    <a:pt x="239555" y="0"/>
                  </a:lnTo>
                  <a:lnTo>
                    <a:pt x="239555" y="348387"/>
                  </a:lnTo>
                  <a:lnTo>
                    <a:pt x="0" y="348387"/>
                  </a:lnTo>
                  <a:close/>
                </a:path>
              </a:pathLst>
            </a:custGeom>
            <a:solidFill>
              <a:srgbClr val="FFB3B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39555" cy="40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562579" y="3904092"/>
            <a:ext cx="5498750" cy="1483789"/>
          </a:xfrm>
          <a:custGeom>
            <a:avLst/>
            <a:gdLst/>
            <a:ahLst/>
            <a:cxnLst/>
            <a:rect l="l" t="t" r="r" b="b"/>
            <a:pathLst>
              <a:path w="5498750" h="1483789">
                <a:moveTo>
                  <a:pt x="0" y="0"/>
                </a:moveTo>
                <a:lnTo>
                  <a:pt x="5498749" y="0"/>
                </a:lnTo>
                <a:lnTo>
                  <a:pt x="5498749" y="1483789"/>
                </a:lnTo>
                <a:lnTo>
                  <a:pt x="0" y="1483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5726" b="-13486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15289834" y="-442817"/>
            <a:ext cx="2567400" cy="2567400"/>
          </a:xfrm>
          <a:custGeom>
            <a:avLst/>
            <a:gdLst/>
            <a:ahLst/>
            <a:cxnLst/>
            <a:rect l="l" t="t" r="r" b="b"/>
            <a:pathLst>
              <a:path w="2567400" h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TextBox 20"/>
          <p:cNvSpPr txBox="1"/>
          <p:nvPr/>
        </p:nvSpPr>
        <p:spPr>
          <a:xfrm>
            <a:off x="394474" y="2159053"/>
            <a:ext cx="9523565" cy="132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2"/>
              </a:lnSpc>
              <a:spcBef>
                <a:spcPct val="0"/>
              </a:spcBef>
            </a:pPr>
            <a:r>
              <a:rPr lang="en-US" sz="7716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Proyecto de Título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4315" y="7630741"/>
            <a:ext cx="7834960" cy="100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Pablo Castro, Patricio Leiva y Mariana Rodríguez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704" y="9201150"/>
            <a:ext cx="2929749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Docente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Felix Cifuentes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99774" y="9856698"/>
            <a:ext cx="1119052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387" y="-514350"/>
            <a:ext cx="6014655" cy="11315700"/>
            <a:chOff x="0" y="0"/>
            <a:chExt cx="1584107" cy="29802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84107" cy="2980267"/>
            </a:xfrm>
            <a:custGeom>
              <a:avLst/>
              <a:gdLst/>
              <a:ahLst/>
              <a:cxnLst/>
              <a:rect l="l" t="t" r="r" b="b"/>
              <a:pathLst>
                <a:path w="1584107" h="2980267">
                  <a:moveTo>
                    <a:pt x="0" y="0"/>
                  </a:moveTo>
                  <a:lnTo>
                    <a:pt x="1584107" y="0"/>
                  </a:lnTo>
                  <a:lnTo>
                    <a:pt x="1584107" y="2980267"/>
                  </a:lnTo>
                  <a:lnTo>
                    <a:pt x="0" y="2980267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584107" cy="3037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533834" flipH="1">
            <a:off x="-965679" y="8552115"/>
            <a:ext cx="2954556" cy="2988173"/>
          </a:xfrm>
          <a:custGeom>
            <a:avLst/>
            <a:gdLst/>
            <a:ahLst/>
            <a:cxnLst/>
            <a:rect l="l" t="t" r="r" b="b"/>
            <a:pathLst>
              <a:path w="2954556" h="2988173">
                <a:moveTo>
                  <a:pt x="2954556" y="0"/>
                </a:moveTo>
                <a:lnTo>
                  <a:pt x="0" y="0"/>
                </a:lnTo>
                <a:lnTo>
                  <a:pt x="0" y="2988173"/>
                </a:lnTo>
                <a:lnTo>
                  <a:pt x="2954556" y="2988173"/>
                </a:lnTo>
                <a:lnTo>
                  <a:pt x="295455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rot="1347545" flipH="1" flipV="1">
            <a:off x="16321912" y="-1303586"/>
            <a:ext cx="2954556" cy="2988173"/>
          </a:xfrm>
          <a:custGeom>
            <a:avLst/>
            <a:gdLst/>
            <a:ahLst/>
            <a:cxnLst/>
            <a:rect l="l" t="t" r="r" b="b"/>
            <a:pathLst>
              <a:path w="2954556" h="2988173">
                <a:moveTo>
                  <a:pt x="2954556" y="2988172"/>
                </a:moveTo>
                <a:lnTo>
                  <a:pt x="0" y="2988172"/>
                </a:lnTo>
                <a:lnTo>
                  <a:pt x="0" y="0"/>
                </a:lnTo>
                <a:lnTo>
                  <a:pt x="2954556" y="0"/>
                </a:lnTo>
                <a:lnTo>
                  <a:pt x="2954556" y="29881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5289834" y="-442817"/>
            <a:ext cx="2567400" cy="2567400"/>
          </a:xfrm>
          <a:custGeom>
            <a:avLst/>
            <a:gdLst/>
            <a:ahLst/>
            <a:cxnLst/>
            <a:rect l="l" t="t" r="r" b="b"/>
            <a:pathLst>
              <a:path w="2567400" h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5882268" y="-148657"/>
            <a:ext cx="6313202" cy="11315700"/>
            <a:chOff x="0" y="0"/>
            <a:chExt cx="1662736" cy="29802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62736" cy="2980267"/>
            </a:xfrm>
            <a:custGeom>
              <a:avLst/>
              <a:gdLst/>
              <a:ahLst/>
              <a:cxnLst/>
              <a:rect l="l" t="t" r="r" b="b"/>
              <a:pathLst>
                <a:path w="1662736" h="2980267">
                  <a:moveTo>
                    <a:pt x="0" y="0"/>
                  </a:moveTo>
                  <a:lnTo>
                    <a:pt x="1662736" y="0"/>
                  </a:lnTo>
                  <a:lnTo>
                    <a:pt x="1662736" y="2980267"/>
                  </a:lnTo>
                  <a:lnTo>
                    <a:pt x="0" y="2980267"/>
                  </a:lnTo>
                  <a:close/>
                </a:path>
              </a:pathLst>
            </a:custGeom>
            <a:solidFill>
              <a:srgbClr val="FFDB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662736" cy="3037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08390" y="190500"/>
            <a:ext cx="9271221" cy="1028700"/>
            <a:chOff x="0" y="0"/>
            <a:chExt cx="2441803" cy="2709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1803" cy="270933"/>
            </a:xfrm>
            <a:custGeom>
              <a:avLst/>
              <a:gdLst/>
              <a:ahLst/>
              <a:cxnLst/>
              <a:rect l="l" t="t" r="r" b="b"/>
              <a:pathLst>
                <a:path w="2441803" h="270933">
                  <a:moveTo>
                    <a:pt x="0" y="0"/>
                  </a:moveTo>
                  <a:lnTo>
                    <a:pt x="2441803" y="0"/>
                  </a:lnTo>
                  <a:lnTo>
                    <a:pt x="244180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14300"/>
              <a:ext cx="2441803" cy="385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</a:pPr>
              <a:r>
                <a:rPr lang="en-US" sz="37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DESCRIPCIÓN DEL PROYECTO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42148" y="1527339"/>
            <a:ext cx="1922489" cy="65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4"/>
              </a:lnSpc>
              <a:spcBef>
                <a:spcPct val="0"/>
              </a:spcBef>
            </a:pPr>
            <a:r>
              <a:rPr lang="en-US" sz="3796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Dolor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2148" y="2814828"/>
            <a:ext cx="4634393" cy="564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Dependencia excesiva de archivos de Excel informales.</a:t>
            </a: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Proceso de atención fragmentado, sin expediente unificado para nutricionistas independientes y de CESFAM.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747919" y="1543433"/>
            <a:ext cx="4218630" cy="66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3"/>
              </a:lnSpc>
              <a:spcBef>
                <a:spcPct val="0"/>
              </a:spcBef>
            </a:pPr>
            <a:r>
              <a:rPr lang="en-US" sz="3887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Solución - Fase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42829" y="2814828"/>
            <a:ext cx="5420716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Cálculos y diagnósticos especializados para pacientes con condiciones médicas, niños y deportistas.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42829" y="5255768"/>
            <a:ext cx="5494010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Desarrollo de app móvil orientado al nutricionista para gestionar atención en terreno.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9013" y="1569053"/>
            <a:ext cx="4216444" cy="643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sz="3782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Solución - Fase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28510" y="2814828"/>
            <a:ext cx="5420716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Plataforma web centralizada para realizar  consultas nutricionales y gestionar pacientes.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28510" y="5255768"/>
            <a:ext cx="5420716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App móvil para seguimiento de progreso por parte del paciente.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874179">
            <a:off x="13933846" y="-967388"/>
            <a:ext cx="7281115" cy="14856033"/>
            <a:chOff x="0" y="0"/>
            <a:chExt cx="1917660" cy="3912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7660" cy="3912700"/>
            </a:xfrm>
            <a:custGeom>
              <a:avLst/>
              <a:gdLst/>
              <a:ahLst/>
              <a:cxnLst/>
              <a:rect l="l" t="t" r="r" b="b"/>
              <a:pathLst>
                <a:path w="1917660" h="3912700">
                  <a:moveTo>
                    <a:pt x="0" y="0"/>
                  </a:moveTo>
                  <a:lnTo>
                    <a:pt x="1917660" y="0"/>
                  </a:lnTo>
                  <a:lnTo>
                    <a:pt x="1917660" y="3912700"/>
                  </a:lnTo>
                  <a:lnTo>
                    <a:pt x="0" y="3912700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17660" cy="3969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95916" y="1404555"/>
            <a:ext cx="4692084" cy="4703844"/>
          </a:xfrm>
          <a:custGeom>
            <a:avLst/>
            <a:gdLst/>
            <a:ahLst/>
            <a:cxnLst/>
            <a:rect l="l" t="t" r="r" b="b"/>
            <a:pathLst>
              <a:path w="4692084" h="4703844">
                <a:moveTo>
                  <a:pt x="0" y="0"/>
                </a:moveTo>
                <a:lnTo>
                  <a:pt x="4692084" y="0"/>
                </a:lnTo>
                <a:lnTo>
                  <a:pt x="4692084" y="4703844"/>
                </a:lnTo>
                <a:lnTo>
                  <a:pt x="0" y="470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/>
          <p:nvPr/>
        </p:nvGrpSpPr>
        <p:grpSpPr>
          <a:xfrm>
            <a:off x="-132387" y="9772650"/>
            <a:ext cx="18552773" cy="1028700"/>
            <a:chOff x="0" y="0"/>
            <a:chExt cx="4886327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86327" cy="270933"/>
            </a:xfrm>
            <a:custGeom>
              <a:avLst/>
              <a:gdLst/>
              <a:ahLst/>
              <a:cxnLst/>
              <a:rect l="l" t="t" r="r" b="b"/>
              <a:pathLst>
                <a:path w="4886327" h="270933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309621" y="6108399"/>
            <a:ext cx="4610824" cy="4692951"/>
          </a:xfrm>
          <a:custGeom>
            <a:avLst/>
            <a:gdLst/>
            <a:ahLst/>
            <a:cxnLst/>
            <a:rect l="l" t="t" r="r" b="b"/>
            <a:pathLst>
              <a:path w="4610824" h="4692951">
                <a:moveTo>
                  <a:pt x="0" y="0"/>
                </a:moveTo>
                <a:lnTo>
                  <a:pt x="4610824" y="0"/>
                </a:lnTo>
                <a:lnTo>
                  <a:pt x="4610824" y="4692951"/>
                </a:lnTo>
                <a:lnTo>
                  <a:pt x="0" y="4692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0323703" y="5953029"/>
            <a:ext cx="4701943" cy="4635333"/>
          </a:xfrm>
          <a:custGeom>
            <a:avLst/>
            <a:gdLst/>
            <a:ahLst/>
            <a:cxnLst/>
            <a:rect l="l" t="t" r="r" b="b"/>
            <a:pathLst>
              <a:path w="4701943" h="4635333">
                <a:moveTo>
                  <a:pt x="0" y="0"/>
                </a:moveTo>
                <a:lnTo>
                  <a:pt x="4701943" y="0"/>
                </a:lnTo>
                <a:lnTo>
                  <a:pt x="4701943" y="4635333"/>
                </a:lnTo>
                <a:lnTo>
                  <a:pt x="0" y="463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738362" y="117114"/>
            <a:ext cx="2861802" cy="772232"/>
          </a:xfrm>
          <a:custGeom>
            <a:avLst/>
            <a:gdLst/>
            <a:ahLst/>
            <a:cxnLst/>
            <a:rect l="l" t="t" r="r" b="b"/>
            <a:pathLst>
              <a:path w="2861802" h="772232">
                <a:moveTo>
                  <a:pt x="0" y="0"/>
                </a:moveTo>
                <a:lnTo>
                  <a:pt x="2861802" y="0"/>
                </a:lnTo>
                <a:lnTo>
                  <a:pt x="2861802" y="772232"/>
                </a:lnTo>
                <a:lnTo>
                  <a:pt x="0" y="772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5726" b="-13486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738362" y="1125360"/>
            <a:ext cx="1073729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Alcance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38362" y="4177585"/>
            <a:ext cx="4526699" cy="602564"/>
            <a:chOff x="0" y="0"/>
            <a:chExt cx="6035599" cy="803418"/>
          </a:xfrm>
        </p:grpSpPr>
        <p:grpSp>
          <p:nvGrpSpPr>
            <p:cNvPr id="14" name="Group 14"/>
            <p:cNvGrpSpPr/>
            <p:nvPr/>
          </p:nvGrpSpPr>
          <p:grpSpPr>
            <a:xfrm>
              <a:off x="161985" y="0"/>
              <a:ext cx="5873614" cy="803418"/>
              <a:chOff x="0" y="0"/>
              <a:chExt cx="1160220" cy="1587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160220" cy="158700"/>
              </a:xfrm>
              <a:custGeom>
                <a:avLst/>
                <a:gdLst/>
                <a:ahLst/>
                <a:cxnLst/>
                <a:rect l="l" t="t" r="r" b="b"/>
                <a:pathLst>
                  <a:path w="1160220" h="158700">
                    <a:moveTo>
                      <a:pt x="0" y="0"/>
                    </a:moveTo>
                    <a:lnTo>
                      <a:pt x="1160220" y="0"/>
                    </a:lnTo>
                    <a:lnTo>
                      <a:pt x="1160220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57150"/>
                <a:ext cx="1160220" cy="215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34679"/>
              <a:ext cx="6035599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Nutrición especializada: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9850" y="2497354"/>
            <a:ext cx="3108684" cy="525217"/>
            <a:chOff x="0" y="0"/>
            <a:chExt cx="4144912" cy="70029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4144912" cy="700290"/>
              <a:chOff x="0" y="0"/>
              <a:chExt cx="818748" cy="13832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8748" cy="138329"/>
              </a:xfrm>
              <a:custGeom>
                <a:avLst/>
                <a:gdLst/>
                <a:ahLst/>
                <a:cxnLst/>
                <a:rect l="l" t="t" r="r" b="b"/>
                <a:pathLst>
                  <a:path w="818748" h="138329">
                    <a:moveTo>
                      <a:pt x="0" y="0"/>
                    </a:moveTo>
                    <a:lnTo>
                      <a:pt x="818748" y="0"/>
                    </a:lnTo>
                    <a:lnTo>
                      <a:pt x="818748" y="138329"/>
                    </a:lnTo>
                    <a:lnTo>
                      <a:pt x="0" y="138329"/>
                    </a:lnTo>
                    <a:close/>
                  </a:path>
                </a:pathLst>
              </a:custGeom>
              <a:solidFill>
                <a:srgbClr val="D4E78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818748" cy="1954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21351"/>
              <a:ext cx="3491766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Telemedicina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9850" y="5051965"/>
            <a:ext cx="8284150" cy="529626"/>
            <a:chOff x="0" y="-5879"/>
            <a:chExt cx="11045533" cy="706169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1045533" cy="700290"/>
              <a:chOff x="0" y="0"/>
              <a:chExt cx="2181834" cy="13832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181834" cy="138329"/>
              </a:xfrm>
              <a:custGeom>
                <a:avLst/>
                <a:gdLst/>
                <a:ahLst/>
                <a:cxnLst/>
                <a:rect l="l" t="t" r="r" b="b"/>
                <a:pathLst>
                  <a:path w="2181834" h="138329">
                    <a:moveTo>
                      <a:pt x="0" y="0"/>
                    </a:moveTo>
                    <a:lnTo>
                      <a:pt x="2181834" y="0"/>
                    </a:lnTo>
                    <a:lnTo>
                      <a:pt x="2181834" y="138329"/>
                    </a:lnTo>
                    <a:lnTo>
                      <a:pt x="0" y="138329"/>
                    </a:lnTo>
                    <a:close/>
                  </a:path>
                </a:pathLst>
              </a:custGeom>
              <a:solidFill>
                <a:srgbClr val="FFB3B3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57150"/>
                <a:ext cx="2181834" cy="1954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-5879"/>
              <a:ext cx="10393052" cy="56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Analitica</a:t>
              </a:r>
              <a:r>
                <a:rPr lang="en-US" sz="25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 con IA y </a:t>
              </a:r>
              <a:r>
                <a:rPr lang="en-US" sz="25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gestión</a:t>
              </a:r>
              <a:r>
                <a:rPr lang="en-US" sz="25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 de </a:t>
              </a:r>
              <a:r>
                <a:rPr lang="en-US" sz="25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examenes</a:t>
              </a:r>
              <a:r>
                <a:rPr lang="en-US" sz="25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 </a:t>
              </a:r>
              <a:r>
                <a:rPr lang="en-US" sz="25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médicos</a:t>
              </a:r>
              <a:endParaRPr lang="en-US" sz="2599" dirty="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endParaRPr>
            </a:p>
          </p:txBody>
        </p:sp>
      </p:grpSp>
      <p:sp>
        <p:nvSpPr>
          <p:cNvPr id="28" name="Freeform 28"/>
          <p:cNvSpPr/>
          <p:nvPr/>
        </p:nvSpPr>
        <p:spPr>
          <a:xfrm>
            <a:off x="15289834" y="-442817"/>
            <a:ext cx="2567400" cy="2567400"/>
          </a:xfrm>
          <a:custGeom>
            <a:avLst/>
            <a:gdLst/>
            <a:ahLst/>
            <a:cxnLst/>
            <a:rect l="l" t="t" r="r" b="b"/>
            <a:pathLst>
              <a:path w="2567400" h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9" name="TextBox 29"/>
          <p:cNvSpPr txBox="1"/>
          <p:nvPr/>
        </p:nvSpPr>
        <p:spPr>
          <a:xfrm>
            <a:off x="738362" y="5819716"/>
            <a:ext cx="10737290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Fuera de alcance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38362" y="7276406"/>
            <a:ext cx="6723570" cy="630027"/>
            <a:chOff x="0" y="0"/>
            <a:chExt cx="8964761" cy="840036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8964761" cy="840036"/>
              <a:chOff x="0" y="0"/>
              <a:chExt cx="1770817" cy="16593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70817" cy="165933"/>
              </a:xfrm>
              <a:custGeom>
                <a:avLst/>
                <a:gdLst/>
                <a:ahLst/>
                <a:cxnLst/>
                <a:rect l="l" t="t" r="r" b="b"/>
                <a:pathLst>
                  <a:path w="1770817" h="165933">
                    <a:moveTo>
                      <a:pt x="0" y="0"/>
                    </a:moveTo>
                    <a:lnTo>
                      <a:pt x="1770817" y="0"/>
                    </a:lnTo>
                    <a:lnTo>
                      <a:pt x="1770817" y="165933"/>
                    </a:lnTo>
                    <a:lnTo>
                      <a:pt x="0" y="165933"/>
                    </a:lnTo>
                    <a:close/>
                  </a:path>
                </a:pathLst>
              </a:custGeom>
              <a:solidFill>
                <a:srgbClr val="D4E786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57150"/>
                <a:ext cx="1770817" cy="2230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52988"/>
              <a:ext cx="8799592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Otras áreas de medicina relacionadas 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49609" y="8048145"/>
            <a:ext cx="8892065" cy="1582792"/>
            <a:chOff x="0" y="0"/>
            <a:chExt cx="11856087" cy="2110390"/>
          </a:xfrm>
        </p:grpSpPr>
        <p:grpSp>
          <p:nvGrpSpPr>
            <p:cNvPr id="36" name="Group 36"/>
            <p:cNvGrpSpPr/>
            <p:nvPr/>
          </p:nvGrpSpPr>
          <p:grpSpPr>
            <a:xfrm>
              <a:off x="318197" y="0"/>
              <a:ext cx="11537890" cy="1712099"/>
              <a:chOff x="0" y="0"/>
              <a:chExt cx="2279089" cy="33819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279089" cy="338192"/>
              </a:xfrm>
              <a:custGeom>
                <a:avLst/>
                <a:gdLst/>
                <a:ahLst/>
                <a:cxnLst/>
                <a:rect l="l" t="t" r="r" b="b"/>
                <a:pathLst>
                  <a:path w="2279089" h="338192">
                    <a:moveTo>
                      <a:pt x="0" y="0"/>
                    </a:moveTo>
                    <a:lnTo>
                      <a:pt x="2279089" y="0"/>
                    </a:lnTo>
                    <a:lnTo>
                      <a:pt x="2279089" y="338192"/>
                    </a:lnTo>
                    <a:lnTo>
                      <a:pt x="0" y="338192"/>
                    </a:lnTo>
                    <a:close/>
                  </a:path>
                </a:pathLst>
              </a:custGeom>
              <a:solidFill>
                <a:srgbClr val="FFDB70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57150"/>
                <a:ext cx="2279089" cy="3953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0" y="201579"/>
              <a:ext cx="11856087" cy="190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Otras</a:t>
              </a:r>
              <a:r>
                <a:rPr lang="en-US" sz="26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 </a:t>
              </a:r>
              <a:r>
                <a:rPr lang="en-US" sz="26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especialidades</a:t>
              </a:r>
              <a:r>
                <a:rPr lang="en-US" sz="26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: </a:t>
              </a:r>
              <a:r>
                <a:rPr lang="en-US" sz="26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Patologías</a:t>
              </a:r>
              <a:r>
                <a:rPr lang="en-US" sz="26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 </a:t>
              </a:r>
              <a:r>
                <a:rPr lang="en-US" sz="26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hepáticas</a:t>
              </a:r>
              <a:r>
                <a:rPr lang="en-US" sz="26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, </a:t>
              </a:r>
              <a:r>
                <a:rPr lang="en-US" sz="26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Hospitalizados</a:t>
              </a:r>
              <a:r>
                <a:rPr lang="en-US" sz="26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, TCA, </a:t>
              </a:r>
              <a:r>
                <a:rPr lang="en-US" sz="26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veganos</a:t>
              </a:r>
              <a:r>
                <a:rPr lang="en-US" sz="2699" dirty="0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, </a:t>
              </a:r>
              <a:r>
                <a:rPr lang="en-US" sz="2699" dirty="0" err="1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vegetarianos</a:t>
              </a:r>
              <a:endParaRPr lang="en-US" sz="2699" dirty="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endParaRP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endParaRPr lang="en-US" sz="2699" dirty="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8362" y="3298797"/>
            <a:ext cx="3526224" cy="602564"/>
            <a:chOff x="0" y="0"/>
            <a:chExt cx="4701632" cy="803418"/>
          </a:xfrm>
        </p:grpSpPr>
        <p:grpSp>
          <p:nvGrpSpPr>
            <p:cNvPr id="41" name="Group 41"/>
            <p:cNvGrpSpPr/>
            <p:nvPr/>
          </p:nvGrpSpPr>
          <p:grpSpPr>
            <a:xfrm>
              <a:off x="126184" y="0"/>
              <a:ext cx="4575448" cy="803418"/>
              <a:chOff x="0" y="0"/>
              <a:chExt cx="903792" cy="1587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03792" cy="158700"/>
              </a:xfrm>
              <a:custGeom>
                <a:avLst/>
                <a:gdLst/>
                <a:ahLst/>
                <a:cxnLst/>
                <a:rect l="l" t="t" r="r" b="b"/>
                <a:pathLst>
                  <a:path w="903792" h="158700">
                    <a:moveTo>
                      <a:pt x="0" y="0"/>
                    </a:moveTo>
                    <a:lnTo>
                      <a:pt x="903792" y="0"/>
                    </a:lnTo>
                    <a:lnTo>
                      <a:pt x="903792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FFDB70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57150"/>
                <a:ext cx="903792" cy="215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0" y="34679"/>
              <a:ext cx="4354297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Planes de Pago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65278" y="4177585"/>
            <a:ext cx="2578722" cy="602564"/>
            <a:chOff x="0" y="0"/>
            <a:chExt cx="3438297" cy="803418"/>
          </a:xfrm>
        </p:grpSpPr>
        <p:grpSp>
          <p:nvGrpSpPr>
            <p:cNvPr id="46" name="Group 46"/>
            <p:cNvGrpSpPr/>
            <p:nvPr/>
          </p:nvGrpSpPr>
          <p:grpSpPr>
            <a:xfrm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647173" cy="158700"/>
              </a:xfrm>
              <a:custGeom>
                <a:avLst/>
                <a:gdLst/>
                <a:ahLst/>
                <a:cxnLst/>
                <a:rect l="l" t="t" r="r" b="b"/>
                <a:pathLst>
                  <a:path w="647173" h="158700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0" y="34679"/>
              <a:ext cx="3438297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Pediatría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565278" y="3455195"/>
            <a:ext cx="2578722" cy="602564"/>
            <a:chOff x="0" y="0"/>
            <a:chExt cx="3438297" cy="803418"/>
          </a:xfrm>
        </p:grpSpPr>
        <p:grpSp>
          <p:nvGrpSpPr>
            <p:cNvPr id="51" name="Group 51"/>
            <p:cNvGrpSpPr/>
            <p:nvPr/>
          </p:nvGrpSpPr>
          <p:grpSpPr>
            <a:xfrm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647173" cy="158700"/>
              </a:xfrm>
              <a:custGeom>
                <a:avLst/>
                <a:gdLst/>
                <a:ahLst/>
                <a:cxnLst/>
                <a:rect l="l" t="t" r="r" b="b"/>
                <a:pathLst>
                  <a:path w="647173" h="158700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0" y="34679"/>
              <a:ext cx="3438297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Embarazo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565278" y="2721290"/>
            <a:ext cx="2578722" cy="602564"/>
            <a:chOff x="0" y="0"/>
            <a:chExt cx="3438297" cy="803418"/>
          </a:xfrm>
        </p:grpSpPr>
        <p:grpSp>
          <p:nvGrpSpPr>
            <p:cNvPr id="56" name="Group 56"/>
            <p:cNvGrpSpPr/>
            <p:nvPr/>
          </p:nvGrpSpPr>
          <p:grpSpPr>
            <a:xfrm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647173" cy="158700"/>
              </a:xfrm>
              <a:custGeom>
                <a:avLst/>
                <a:gdLst/>
                <a:ahLst/>
                <a:cxnLst/>
                <a:rect l="l" t="t" r="r" b="b"/>
                <a:pathLst>
                  <a:path w="647173" h="158700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0" y="34679"/>
              <a:ext cx="3438297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E.Renal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565278" y="1985376"/>
            <a:ext cx="2578722" cy="602564"/>
            <a:chOff x="0" y="0"/>
            <a:chExt cx="3438297" cy="803418"/>
          </a:xfrm>
        </p:grpSpPr>
        <p:grpSp>
          <p:nvGrpSpPr>
            <p:cNvPr id="61" name="Group 61"/>
            <p:cNvGrpSpPr/>
            <p:nvPr/>
          </p:nvGrpSpPr>
          <p:grpSpPr>
            <a:xfrm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647173" cy="158700"/>
              </a:xfrm>
              <a:custGeom>
                <a:avLst/>
                <a:gdLst/>
                <a:ahLst/>
                <a:cxnLst/>
                <a:rect l="l" t="t" r="r" b="b"/>
                <a:pathLst>
                  <a:path w="647173" h="158700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0" y="34679"/>
              <a:ext cx="3438297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Diabetes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565278" y="1258988"/>
            <a:ext cx="2578722" cy="602564"/>
            <a:chOff x="0" y="0"/>
            <a:chExt cx="3438297" cy="803418"/>
          </a:xfrm>
        </p:grpSpPr>
        <p:grpSp>
          <p:nvGrpSpPr>
            <p:cNvPr id="66" name="Group 66"/>
            <p:cNvGrpSpPr/>
            <p:nvPr/>
          </p:nvGrpSpPr>
          <p:grpSpPr>
            <a:xfrm>
              <a:off x="161985" y="0"/>
              <a:ext cx="3276311" cy="803418"/>
              <a:chOff x="0" y="0"/>
              <a:chExt cx="647173" cy="1587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647173" cy="158700"/>
              </a:xfrm>
              <a:custGeom>
                <a:avLst/>
                <a:gdLst/>
                <a:ahLst/>
                <a:cxnLst/>
                <a:rect l="l" t="t" r="r" b="b"/>
                <a:pathLst>
                  <a:path w="647173" h="158700">
                    <a:moveTo>
                      <a:pt x="0" y="0"/>
                    </a:moveTo>
                    <a:lnTo>
                      <a:pt x="647173" y="0"/>
                    </a:lnTo>
                    <a:lnTo>
                      <a:pt x="647173" y="158700"/>
                    </a:lnTo>
                    <a:lnTo>
                      <a:pt x="0" y="158700"/>
                    </a:lnTo>
                    <a:close/>
                  </a:path>
                </a:pathLst>
              </a:custGeom>
              <a:solidFill>
                <a:srgbClr val="E2A9F1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57150"/>
                <a:ext cx="647173" cy="215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9" name="TextBox 69"/>
            <p:cNvSpPr txBox="1"/>
            <p:nvPr/>
          </p:nvSpPr>
          <p:spPr>
            <a:xfrm>
              <a:off x="0" y="34679"/>
              <a:ext cx="3438297" cy="6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Deportistas</a:t>
              </a:r>
            </a:p>
          </p:txBody>
        </p:sp>
      </p:grpSp>
      <p:sp>
        <p:nvSpPr>
          <p:cNvPr id="70" name="AutoShape 70"/>
          <p:cNvSpPr/>
          <p:nvPr/>
        </p:nvSpPr>
        <p:spPr>
          <a:xfrm flipV="1">
            <a:off x="5265061" y="1653130"/>
            <a:ext cx="1408554" cy="28257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1" name="AutoShape 71"/>
          <p:cNvSpPr/>
          <p:nvPr/>
        </p:nvSpPr>
        <p:spPr>
          <a:xfrm flipV="1">
            <a:off x="5265061" y="2286658"/>
            <a:ext cx="1261711" cy="21922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2" name="AutoShape 72"/>
          <p:cNvSpPr/>
          <p:nvPr/>
        </p:nvSpPr>
        <p:spPr>
          <a:xfrm flipV="1">
            <a:off x="5265061" y="2935326"/>
            <a:ext cx="1300217" cy="15435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3" name="AutoShape 73"/>
          <p:cNvSpPr/>
          <p:nvPr/>
        </p:nvSpPr>
        <p:spPr>
          <a:xfrm flipV="1">
            <a:off x="5265061" y="3629409"/>
            <a:ext cx="1251420" cy="8494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4" name="AutoShape 74"/>
          <p:cNvSpPr/>
          <p:nvPr/>
        </p:nvSpPr>
        <p:spPr>
          <a:xfrm flipV="1">
            <a:off x="5265061" y="4416352"/>
            <a:ext cx="1249054" cy="625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387" y="2490709"/>
            <a:ext cx="9276387" cy="8025068"/>
            <a:chOff x="0" y="0"/>
            <a:chExt cx="1616799" cy="13987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6799" cy="1398705"/>
            </a:xfrm>
            <a:custGeom>
              <a:avLst/>
              <a:gdLst/>
              <a:ahLst/>
              <a:cxnLst/>
              <a:rect l="l" t="t" r="r" b="b"/>
              <a:pathLst>
                <a:path w="1616799" h="1398705">
                  <a:moveTo>
                    <a:pt x="0" y="0"/>
                  </a:moveTo>
                  <a:lnTo>
                    <a:pt x="1616799" y="0"/>
                  </a:lnTo>
                  <a:lnTo>
                    <a:pt x="1616799" y="1398705"/>
                  </a:lnTo>
                  <a:lnTo>
                    <a:pt x="0" y="1398705"/>
                  </a:lnTo>
                  <a:close/>
                </a:path>
              </a:pathLst>
            </a:custGeom>
            <a:blipFill>
              <a:blip r:embed="rId2"/>
              <a:stretch>
                <a:fillRect l="-14923" r="-1492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0" y="2490709"/>
            <a:ext cx="9276387" cy="8025068"/>
            <a:chOff x="0" y="0"/>
            <a:chExt cx="1616799" cy="13987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16799" cy="1398705"/>
            </a:xfrm>
            <a:custGeom>
              <a:avLst/>
              <a:gdLst/>
              <a:ahLst/>
              <a:cxnLst/>
              <a:rect l="l" t="t" r="r" b="b"/>
              <a:pathLst>
                <a:path w="1616799" h="1398705">
                  <a:moveTo>
                    <a:pt x="0" y="0"/>
                  </a:moveTo>
                  <a:lnTo>
                    <a:pt x="1616799" y="0"/>
                  </a:lnTo>
                  <a:lnTo>
                    <a:pt x="1616799" y="1398705"/>
                  </a:lnTo>
                  <a:lnTo>
                    <a:pt x="0" y="1398705"/>
                  </a:lnTo>
                  <a:close/>
                </a:path>
              </a:pathLst>
            </a:custGeom>
            <a:blipFill>
              <a:blip r:embed="rId3"/>
              <a:stretch>
                <a:fillRect l="-14923" r="-1492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53800" y="3427029"/>
            <a:ext cx="7413950" cy="6259243"/>
            <a:chOff x="0" y="0"/>
            <a:chExt cx="1952645" cy="16485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2645" cy="1648525"/>
            </a:xfrm>
            <a:custGeom>
              <a:avLst/>
              <a:gdLst/>
              <a:ahLst/>
              <a:cxnLst/>
              <a:rect l="l" t="t" r="r" b="b"/>
              <a:pathLst>
                <a:path w="1952645" h="1648525">
                  <a:moveTo>
                    <a:pt x="0" y="0"/>
                  </a:moveTo>
                  <a:lnTo>
                    <a:pt x="1952645" y="0"/>
                  </a:lnTo>
                  <a:lnTo>
                    <a:pt x="1952645" y="1648525"/>
                  </a:lnTo>
                  <a:lnTo>
                    <a:pt x="0" y="1648525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952645" cy="1705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20250" y="3210038"/>
            <a:ext cx="8135848" cy="6476234"/>
            <a:chOff x="0" y="-57150"/>
            <a:chExt cx="2142775" cy="17056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42775" cy="1648525"/>
            </a:xfrm>
            <a:custGeom>
              <a:avLst/>
              <a:gdLst/>
              <a:ahLst/>
              <a:cxnLst/>
              <a:rect l="l" t="t" r="r" b="b"/>
              <a:pathLst>
                <a:path w="2142775" h="1648525">
                  <a:moveTo>
                    <a:pt x="0" y="0"/>
                  </a:moveTo>
                  <a:lnTo>
                    <a:pt x="2142775" y="0"/>
                  </a:lnTo>
                  <a:lnTo>
                    <a:pt x="2142775" y="1648525"/>
                  </a:lnTo>
                  <a:lnTo>
                    <a:pt x="0" y="1648525"/>
                  </a:lnTo>
                  <a:close/>
                </a:path>
              </a:pathLst>
            </a:custGeom>
            <a:solidFill>
              <a:srgbClr val="FFB3B3"/>
            </a:solid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142775" cy="1705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118788" y="3671497"/>
            <a:ext cx="3430848" cy="52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Objetivo General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6400" y="4490479"/>
            <a:ext cx="6684606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s-CL" sz="3200" b="1" dirty="0"/>
              <a:t>Ampliar </a:t>
            </a:r>
            <a:r>
              <a:rPr lang="es-CL" sz="3200" b="1" dirty="0" err="1"/>
              <a:t>NutriLink</a:t>
            </a:r>
            <a:r>
              <a:rPr lang="es-CL" sz="3200" b="1" dirty="0"/>
              <a:t> hacia una plataforma integral de atención nutricional</a:t>
            </a:r>
            <a:r>
              <a:rPr lang="es-CL" sz="3200" dirty="0"/>
              <a:t>, sumando sobre la base ya construida una app móvil para el nutricionista, atención especializada por perfil de paciente, telemedicina, medios de pago e IA de apoyo clínico, con el fin de mejorar la toma de decisiones del profesional y la adherencia del paciente a su tratamiento.</a:t>
            </a:r>
            <a:endParaRPr lang="en-US" sz="3200" dirty="0">
              <a:solidFill>
                <a:srgbClr val="000000"/>
              </a:solidFill>
              <a:latin typeface="Solomon Sans"/>
              <a:ea typeface="Solomon Sans"/>
              <a:cs typeface="Solomon Sans"/>
              <a:sym typeface="Solomo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99411" y="4733425"/>
            <a:ext cx="7694476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800" dirty="0"/>
              <a:t>Gestionar el desarrollo ágil con Scrum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2800" dirty="0"/>
              <a:t>Consolidar la base técnica previa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2800" dirty="0"/>
              <a:t>Centralizar lógica nutricional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2800" dirty="0"/>
              <a:t>Extender la atención a cinco especialidades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2800" dirty="0"/>
              <a:t>Desarrollar aplicación móvil en </a:t>
            </a:r>
            <a:r>
              <a:rPr lang="es-CL" sz="2800" dirty="0" err="1"/>
              <a:t>android</a:t>
            </a:r>
            <a:r>
              <a:rPr lang="es-CL" sz="2800" dirty="0"/>
              <a:t> para el nutricionista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2800" dirty="0"/>
              <a:t>Incorporar telemedicina e integración con pasarela de pago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2800" dirty="0"/>
              <a:t>Capacidad de analítica en exámenes médicos y sugerencia de diagnósticos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33304" y="3671497"/>
            <a:ext cx="3697778" cy="52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Objetivos Especificos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73717" y="717058"/>
            <a:ext cx="12540566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Objetivos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-132387" y="9772650"/>
            <a:ext cx="18552773" cy="1028700"/>
            <a:chOff x="0" y="0"/>
            <a:chExt cx="4886327" cy="2709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86327" cy="270933"/>
            </a:xfrm>
            <a:custGeom>
              <a:avLst/>
              <a:gdLst/>
              <a:ahLst/>
              <a:cxnLst/>
              <a:rect l="l" t="t" r="r" b="b"/>
              <a:pathLst>
                <a:path w="4886327" h="270933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5289834" y="-442817"/>
            <a:ext cx="2567400" cy="2567400"/>
          </a:xfrm>
          <a:custGeom>
            <a:avLst/>
            <a:gdLst/>
            <a:ahLst/>
            <a:cxnLst/>
            <a:rect l="l" t="t" r="r" b="b"/>
            <a:pathLst>
              <a:path w="2567400" h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07433" y="1761350"/>
            <a:ext cx="5812954" cy="7317050"/>
            <a:chOff x="0" y="0"/>
            <a:chExt cx="1300291" cy="16367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291" cy="1636740"/>
            </a:xfrm>
            <a:custGeom>
              <a:avLst/>
              <a:gdLst/>
              <a:ahLst/>
              <a:cxnLst/>
              <a:rect l="l" t="t" r="r" b="b"/>
              <a:pathLst>
                <a:path w="1300291" h="1636740">
                  <a:moveTo>
                    <a:pt x="0" y="0"/>
                  </a:moveTo>
                  <a:lnTo>
                    <a:pt x="1300291" y="0"/>
                  </a:lnTo>
                  <a:lnTo>
                    <a:pt x="1300291" y="1636740"/>
                  </a:lnTo>
                  <a:lnTo>
                    <a:pt x="0" y="1636740"/>
                  </a:lnTo>
                  <a:close/>
                </a:path>
              </a:pathLst>
            </a:custGeom>
            <a:blipFill>
              <a:blip r:embed="rId2"/>
              <a:stretch>
                <a:fillRect l="-33916" r="-3391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32387" y="9772650"/>
            <a:ext cx="18552773" cy="1028700"/>
            <a:chOff x="0" y="0"/>
            <a:chExt cx="4886327" cy="2709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86327" cy="270933"/>
            </a:xfrm>
            <a:custGeom>
              <a:avLst/>
              <a:gdLst/>
              <a:ahLst/>
              <a:cxnLst/>
              <a:rect l="l" t="t" r="r" b="b"/>
              <a:pathLst>
                <a:path w="4886327" h="270933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475046" y="7935518"/>
            <a:ext cx="909562" cy="1322782"/>
            <a:chOff x="0" y="0"/>
            <a:chExt cx="239555" cy="3483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9555" cy="348387"/>
            </a:xfrm>
            <a:custGeom>
              <a:avLst/>
              <a:gdLst/>
              <a:ahLst/>
              <a:cxnLst/>
              <a:rect l="l" t="t" r="r" b="b"/>
              <a:pathLst>
                <a:path w="239555" h="348387">
                  <a:moveTo>
                    <a:pt x="0" y="0"/>
                  </a:moveTo>
                  <a:lnTo>
                    <a:pt x="239555" y="0"/>
                  </a:lnTo>
                  <a:lnTo>
                    <a:pt x="239555" y="348387"/>
                  </a:lnTo>
                  <a:lnTo>
                    <a:pt x="0" y="348387"/>
                  </a:lnTo>
                  <a:close/>
                </a:path>
              </a:pathLst>
            </a:custGeom>
            <a:solidFill>
              <a:srgbClr val="FFDB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39555" cy="40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378438" y="1656999"/>
            <a:ext cx="909562" cy="1322782"/>
            <a:chOff x="0" y="0"/>
            <a:chExt cx="239555" cy="3483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9555" cy="348387"/>
            </a:xfrm>
            <a:custGeom>
              <a:avLst/>
              <a:gdLst/>
              <a:ahLst/>
              <a:cxnLst/>
              <a:rect l="l" t="t" r="r" b="b"/>
              <a:pathLst>
                <a:path w="239555" h="348387">
                  <a:moveTo>
                    <a:pt x="0" y="0"/>
                  </a:moveTo>
                  <a:lnTo>
                    <a:pt x="239555" y="0"/>
                  </a:lnTo>
                  <a:lnTo>
                    <a:pt x="239555" y="348387"/>
                  </a:lnTo>
                  <a:lnTo>
                    <a:pt x="0" y="348387"/>
                  </a:lnTo>
                  <a:close/>
                </a:path>
              </a:pathLst>
            </a:custGeom>
            <a:solidFill>
              <a:srgbClr val="FFB3B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39555" cy="40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289834" y="-442817"/>
            <a:ext cx="2567400" cy="2567400"/>
          </a:xfrm>
          <a:custGeom>
            <a:avLst/>
            <a:gdLst/>
            <a:ahLst/>
            <a:cxnLst/>
            <a:rect l="l" t="t" r="r" b="b"/>
            <a:pathLst>
              <a:path w="2567400" h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86342" y="5419875"/>
            <a:ext cx="12464587" cy="4352775"/>
          </a:xfrm>
          <a:custGeom>
            <a:avLst/>
            <a:gdLst/>
            <a:ahLst/>
            <a:cxnLst/>
            <a:rect l="l" t="t" r="r" b="b"/>
            <a:pathLst>
              <a:path w="12464587" h="4352775">
                <a:moveTo>
                  <a:pt x="0" y="0"/>
                </a:moveTo>
                <a:lnTo>
                  <a:pt x="12464587" y="0"/>
                </a:lnTo>
                <a:lnTo>
                  <a:pt x="12464587" y="4352775"/>
                </a:lnTo>
                <a:lnTo>
                  <a:pt x="0" y="4352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24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696672" y="480979"/>
            <a:ext cx="9632922" cy="222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Metodología de trabajo SCRUM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6672" y="2594894"/>
            <a:ext cx="9534111" cy="3405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Sprints de desarrollo cada semana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Sprint Planning inicio de semana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Sprint Retrospective término de semana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Software Clickup para gestión de tareas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Software Figma para diseño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Solomon Sans"/>
              <a:ea typeface="Solomon Sans"/>
              <a:cs typeface="Solomon Sans"/>
              <a:sym typeface="Solomo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387" y="9772650"/>
            <a:ext cx="18552773" cy="1028700"/>
            <a:chOff x="0" y="0"/>
            <a:chExt cx="4886327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6327" cy="270933"/>
            </a:xfrm>
            <a:custGeom>
              <a:avLst/>
              <a:gdLst/>
              <a:ahLst/>
              <a:cxnLst/>
              <a:rect l="l" t="t" r="r" b="b"/>
              <a:pathLst>
                <a:path w="4886327" h="270933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89834" y="-442817"/>
            <a:ext cx="2567400" cy="2567400"/>
          </a:xfrm>
          <a:custGeom>
            <a:avLst/>
            <a:gdLst/>
            <a:ahLst/>
            <a:cxnLst/>
            <a:rect l="l" t="t" r="r" b="b"/>
            <a:pathLst>
              <a:path w="2567400" h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 flipV="1">
            <a:off x="1099322" y="5669270"/>
            <a:ext cx="159367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3433647" y="5466510"/>
            <a:ext cx="405520" cy="40552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9322" y="599978"/>
            <a:ext cx="11882342" cy="220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0"/>
              </a:lnSpc>
              <a:spcBef>
                <a:spcPct val="0"/>
              </a:spcBef>
            </a:pPr>
            <a:r>
              <a:rPr lang="en-US" sz="6335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Cronograma para el desarrollo</a:t>
            </a:r>
          </a:p>
          <a:p>
            <a:pPr algn="l">
              <a:lnSpc>
                <a:spcPts val="8870"/>
              </a:lnSpc>
              <a:spcBef>
                <a:spcPct val="0"/>
              </a:spcBef>
            </a:pPr>
            <a:endParaRPr lang="en-US" sz="6335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28700" y="6189330"/>
            <a:ext cx="5215415" cy="3266020"/>
            <a:chOff x="0" y="0"/>
            <a:chExt cx="1373607" cy="8601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3607" cy="860186"/>
            </a:xfrm>
            <a:custGeom>
              <a:avLst/>
              <a:gdLst/>
              <a:ahLst/>
              <a:cxnLst/>
              <a:rect l="l" t="t" r="r" b="b"/>
              <a:pathLst>
                <a:path w="1373607" h="860186">
                  <a:moveTo>
                    <a:pt x="89066" y="0"/>
                  </a:moveTo>
                  <a:lnTo>
                    <a:pt x="1284541" y="0"/>
                  </a:lnTo>
                  <a:cubicBezTo>
                    <a:pt x="1308163" y="0"/>
                    <a:pt x="1330817" y="9384"/>
                    <a:pt x="1347520" y="26087"/>
                  </a:cubicBezTo>
                  <a:cubicBezTo>
                    <a:pt x="1364224" y="42790"/>
                    <a:pt x="1373607" y="65444"/>
                    <a:pt x="1373607" y="89066"/>
                  </a:cubicBezTo>
                  <a:lnTo>
                    <a:pt x="1373607" y="771121"/>
                  </a:lnTo>
                  <a:cubicBezTo>
                    <a:pt x="1373607" y="820310"/>
                    <a:pt x="1333731" y="860186"/>
                    <a:pt x="1284541" y="860186"/>
                  </a:cubicBezTo>
                  <a:lnTo>
                    <a:pt x="89066" y="860186"/>
                  </a:lnTo>
                  <a:cubicBezTo>
                    <a:pt x="65444" y="860186"/>
                    <a:pt x="42790" y="850803"/>
                    <a:pt x="26087" y="834100"/>
                  </a:cubicBezTo>
                  <a:cubicBezTo>
                    <a:pt x="9384" y="817397"/>
                    <a:pt x="0" y="794742"/>
                    <a:pt x="0" y="771121"/>
                  </a:cubicBezTo>
                  <a:lnTo>
                    <a:pt x="0" y="89066"/>
                  </a:lnTo>
                  <a:cubicBezTo>
                    <a:pt x="0" y="65444"/>
                    <a:pt x="9384" y="42790"/>
                    <a:pt x="26087" y="26087"/>
                  </a:cubicBezTo>
                  <a:cubicBezTo>
                    <a:pt x="42790" y="9384"/>
                    <a:pt x="65444" y="0"/>
                    <a:pt x="890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373607" cy="917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1: Definición de Proyecto</a:t>
              </a:r>
            </a:p>
            <a:p>
              <a:pPr algn="ctr">
                <a:lnSpc>
                  <a:spcPts val="3219"/>
                </a:lnSpc>
              </a:pPr>
              <a:endPara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Definición del proyecto, repositorio GitHub, documentación inicial APT, metodología.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05592" y="2124583"/>
            <a:ext cx="5215415" cy="3266020"/>
            <a:chOff x="0" y="0"/>
            <a:chExt cx="1373607" cy="8601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3607" cy="860186"/>
            </a:xfrm>
            <a:custGeom>
              <a:avLst/>
              <a:gdLst/>
              <a:ahLst/>
              <a:cxnLst/>
              <a:rect l="l" t="t" r="r" b="b"/>
              <a:pathLst>
                <a:path w="1373607" h="860186">
                  <a:moveTo>
                    <a:pt x="89066" y="0"/>
                  </a:moveTo>
                  <a:lnTo>
                    <a:pt x="1284541" y="0"/>
                  </a:lnTo>
                  <a:cubicBezTo>
                    <a:pt x="1308163" y="0"/>
                    <a:pt x="1330817" y="9384"/>
                    <a:pt x="1347520" y="26087"/>
                  </a:cubicBezTo>
                  <a:cubicBezTo>
                    <a:pt x="1364224" y="42790"/>
                    <a:pt x="1373607" y="65444"/>
                    <a:pt x="1373607" y="89066"/>
                  </a:cubicBezTo>
                  <a:lnTo>
                    <a:pt x="1373607" y="771121"/>
                  </a:lnTo>
                  <a:cubicBezTo>
                    <a:pt x="1373607" y="820310"/>
                    <a:pt x="1333731" y="860186"/>
                    <a:pt x="1284541" y="860186"/>
                  </a:cubicBezTo>
                  <a:lnTo>
                    <a:pt x="89066" y="860186"/>
                  </a:lnTo>
                  <a:cubicBezTo>
                    <a:pt x="65444" y="860186"/>
                    <a:pt x="42790" y="850803"/>
                    <a:pt x="26087" y="834100"/>
                  </a:cubicBezTo>
                  <a:cubicBezTo>
                    <a:pt x="9384" y="817397"/>
                    <a:pt x="0" y="794742"/>
                    <a:pt x="0" y="771121"/>
                  </a:cubicBezTo>
                  <a:lnTo>
                    <a:pt x="0" y="89066"/>
                  </a:lnTo>
                  <a:cubicBezTo>
                    <a:pt x="0" y="65444"/>
                    <a:pt x="9384" y="42790"/>
                    <a:pt x="26087" y="26087"/>
                  </a:cubicBezTo>
                  <a:cubicBezTo>
                    <a:pt x="42790" y="9384"/>
                    <a:pt x="65444" y="0"/>
                    <a:pt x="890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373607" cy="917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2: Desarrollo de Proyecto</a:t>
              </a:r>
            </a:p>
            <a:p>
              <a:pPr algn="ctr">
                <a:lnSpc>
                  <a:spcPts val="3219"/>
                </a:lnSpc>
              </a:pPr>
              <a:endPara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Desarrollo backend (JWT), pasarela de pagos, lógica clínica por nichos, motor OCR con IA, telemedicina y módulo de verificación.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38480" y="5466510"/>
            <a:ext cx="405520" cy="40552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43885" y="6097475"/>
            <a:ext cx="5215415" cy="3266020"/>
            <a:chOff x="0" y="0"/>
            <a:chExt cx="1373607" cy="8601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73607" cy="860186"/>
            </a:xfrm>
            <a:custGeom>
              <a:avLst/>
              <a:gdLst/>
              <a:ahLst/>
              <a:cxnLst/>
              <a:rect l="l" t="t" r="r" b="b"/>
              <a:pathLst>
                <a:path w="1373607" h="860186">
                  <a:moveTo>
                    <a:pt x="89066" y="0"/>
                  </a:moveTo>
                  <a:lnTo>
                    <a:pt x="1284541" y="0"/>
                  </a:lnTo>
                  <a:cubicBezTo>
                    <a:pt x="1308163" y="0"/>
                    <a:pt x="1330817" y="9384"/>
                    <a:pt x="1347520" y="26087"/>
                  </a:cubicBezTo>
                  <a:cubicBezTo>
                    <a:pt x="1364224" y="42790"/>
                    <a:pt x="1373607" y="65444"/>
                    <a:pt x="1373607" y="89066"/>
                  </a:cubicBezTo>
                  <a:lnTo>
                    <a:pt x="1373607" y="771121"/>
                  </a:lnTo>
                  <a:cubicBezTo>
                    <a:pt x="1373607" y="820310"/>
                    <a:pt x="1333731" y="860186"/>
                    <a:pt x="1284541" y="860186"/>
                  </a:cubicBezTo>
                  <a:lnTo>
                    <a:pt x="89066" y="860186"/>
                  </a:lnTo>
                  <a:cubicBezTo>
                    <a:pt x="65444" y="860186"/>
                    <a:pt x="42790" y="850803"/>
                    <a:pt x="26087" y="834100"/>
                  </a:cubicBezTo>
                  <a:cubicBezTo>
                    <a:pt x="9384" y="817397"/>
                    <a:pt x="0" y="794742"/>
                    <a:pt x="0" y="771121"/>
                  </a:cubicBezTo>
                  <a:lnTo>
                    <a:pt x="0" y="89066"/>
                  </a:lnTo>
                  <a:cubicBezTo>
                    <a:pt x="0" y="65444"/>
                    <a:pt x="9384" y="42790"/>
                    <a:pt x="26087" y="26087"/>
                  </a:cubicBezTo>
                  <a:cubicBezTo>
                    <a:pt x="42790" y="9384"/>
                    <a:pt x="65444" y="0"/>
                    <a:pt x="890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373607" cy="917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Fase 3: Presentación y Cierre</a:t>
              </a:r>
            </a:p>
            <a:p>
              <a:pPr algn="ctr">
                <a:lnSpc>
                  <a:spcPts val="3219"/>
                </a:lnSpc>
              </a:pPr>
              <a:endPara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Ajustes y correcciones, demostración ante la comisión evaluadora y consolidación académica.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448832" y="5466510"/>
            <a:ext cx="405520" cy="40552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387" y="9772650"/>
            <a:ext cx="18552773" cy="1028700"/>
            <a:chOff x="0" y="0"/>
            <a:chExt cx="4886327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6327" cy="270933"/>
            </a:xfrm>
            <a:custGeom>
              <a:avLst/>
              <a:gdLst/>
              <a:ahLst/>
              <a:cxnLst/>
              <a:rect l="l" t="t" r="r" b="b"/>
              <a:pathLst>
                <a:path w="4886327" h="270933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89834" y="-442817"/>
            <a:ext cx="2567400" cy="2567400"/>
          </a:xfrm>
          <a:custGeom>
            <a:avLst/>
            <a:gdLst/>
            <a:ahLst/>
            <a:cxnLst/>
            <a:rect l="l" t="t" r="r" b="b"/>
            <a:pathLst>
              <a:path w="2567400" h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670094" y="275348"/>
            <a:ext cx="6663576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Arquitectura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C7B2FE6-828F-9817-4CEC-4095E3CEA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94212"/>
            <a:ext cx="7806562" cy="100985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2387" y="9772650"/>
            <a:ext cx="18552773" cy="1028700"/>
            <a:chOff x="0" y="0"/>
            <a:chExt cx="4886327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6327" cy="270933"/>
            </a:xfrm>
            <a:custGeom>
              <a:avLst/>
              <a:gdLst/>
              <a:ahLst/>
              <a:cxnLst/>
              <a:rect l="l" t="t" r="r" b="b"/>
              <a:pathLst>
                <a:path w="4886327" h="270933">
                  <a:moveTo>
                    <a:pt x="0" y="0"/>
                  </a:moveTo>
                  <a:lnTo>
                    <a:pt x="4886327" y="0"/>
                  </a:lnTo>
                  <a:lnTo>
                    <a:pt x="488632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4E7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86327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64410" y="5827264"/>
            <a:ext cx="6384855" cy="1028700"/>
            <a:chOff x="0" y="0"/>
            <a:chExt cx="1681608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608" cy="270933"/>
            </a:xfrm>
            <a:custGeom>
              <a:avLst/>
              <a:gdLst/>
              <a:ahLst/>
              <a:cxnLst/>
              <a:rect l="l" t="t" r="r" b="b"/>
              <a:pathLst>
                <a:path w="1681608" h="270933">
                  <a:moveTo>
                    <a:pt x="0" y="0"/>
                  </a:moveTo>
                  <a:lnTo>
                    <a:pt x="1681608" y="0"/>
                  </a:lnTo>
                  <a:lnTo>
                    <a:pt x="168160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DB7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81608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47822" y="1429778"/>
            <a:ext cx="4663440" cy="5627642"/>
            <a:chOff x="0" y="0"/>
            <a:chExt cx="812800" cy="9808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980853"/>
            </a:xfrm>
            <a:custGeom>
              <a:avLst/>
              <a:gdLst/>
              <a:ahLst/>
              <a:cxnLst/>
              <a:rect l="l" t="t" r="r" b="b"/>
              <a:pathLst>
                <a:path w="812800" h="980853">
                  <a:moveTo>
                    <a:pt x="0" y="0"/>
                  </a:moveTo>
                  <a:lnTo>
                    <a:pt x="812800" y="0"/>
                  </a:lnTo>
                  <a:lnTo>
                    <a:pt x="812800" y="980853"/>
                  </a:lnTo>
                  <a:lnTo>
                    <a:pt x="0" y="980853"/>
                  </a:lnTo>
                  <a:close/>
                </a:path>
              </a:pathLst>
            </a:custGeom>
            <a:blipFill>
              <a:blip r:embed="rId2"/>
              <a:stretch>
                <a:fillRect l="-13774" r="-10076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76738" y="3630658"/>
            <a:ext cx="4663440" cy="5627642"/>
            <a:chOff x="0" y="0"/>
            <a:chExt cx="812800" cy="9808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980853"/>
            </a:xfrm>
            <a:custGeom>
              <a:avLst/>
              <a:gdLst/>
              <a:ahLst/>
              <a:cxnLst/>
              <a:rect l="l" t="t" r="r" b="b"/>
              <a:pathLst>
                <a:path w="812800" h="980853">
                  <a:moveTo>
                    <a:pt x="0" y="0"/>
                  </a:moveTo>
                  <a:lnTo>
                    <a:pt x="812800" y="0"/>
                  </a:lnTo>
                  <a:lnTo>
                    <a:pt x="812800" y="980853"/>
                  </a:lnTo>
                  <a:lnTo>
                    <a:pt x="0" y="980853"/>
                  </a:lnTo>
                  <a:close/>
                </a:path>
              </a:pathLst>
            </a:custGeom>
            <a:blipFill>
              <a:blip r:embed="rId3"/>
              <a:stretch>
                <a:fillRect l="-53883" r="-2758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64410" y="4458223"/>
            <a:ext cx="6384855" cy="1108158"/>
            <a:chOff x="0" y="0"/>
            <a:chExt cx="1681608" cy="2918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81608" cy="291860"/>
            </a:xfrm>
            <a:custGeom>
              <a:avLst/>
              <a:gdLst/>
              <a:ahLst/>
              <a:cxnLst/>
              <a:rect l="l" t="t" r="r" b="b"/>
              <a:pathLst>
                <a:path w="1681608" h="291860">
                  <a:moveTo>
                    <a:pt x="0" y="0"/>
                  </a:moveTo>
                  <a:lnTo>
                    <a:pt x="1681608" y="0"/>
                  </a:lnTo>
                  <a:lnTo>
                    <a:pt x="1681608" y="291860"/>
                  </a:lnTo>
                  <a:lnTo>
                    <a:pt x="0" y="291860"/>
                  </a:lnTo>
                  <a:close/>
                </a:path>
              </a:pathLst>
            </a:custGeom>
            <a:solidFill>
              <a:srgbClr val="FFB3B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681608" cy="349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864410" y="3553965"/>
            <a:ext cx="5239881" cy="45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Muchas Gracias!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Y alimentate bien!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289834" y="-442817"/>
            <a:ext cx="2567400" cy="2567400"/>
          </a:xfrm>
          <a:custGeom>
            <a:avLst/>
            <a:gdLst/>
            <a:ahLst/>
            <a:cxnLst/>
            <a:rect l="l" t="t" r="r" b="b"/>
            <a:pathLst>
              <a:path w="2567400" h="2567400">
                <a:moveTo>
                  <a:pt x="0" y="0"/>
                </a:moveTo>
                <a:lnTo>
                  <a:pt x="2567400" y="0"/>
                </a:lnTo>
                <a:lnTo>
                  <a:pt x="2567400" y="2567400"/>
                </a:lnTo>
                <a:lnTo>
                  <a:pt x="0" y="256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547296" y="202531"/>
            <a:ext cx="5498750" cy="1483789"/>
          </a:xfrm>
          <a:custGeom>
            <a:avLst/>
            <a:gdLst/>
            <a:ahLst/>
            <a:cxnLst/>
            <a:rect l="l" t="t" r="r" b="b"/>
            <a:pathLst>
              <a:path w="5498750" h="1483789">
                <a:moveTo>
                  <a:pt x="0" y="0"/>
                </a:moveTo>
                <a:lnTo>
                  <a:pt x="5498750" y="0"/>
                </a:lnTo>
                <a:lnTo>
                  <a:pt x="5498750" y="1483788"/>
                </a:lnTo>
                <a:lnTo>
                  <a:pt x="0" y="1483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5726" b="-13486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368</Words>
  <Application>Microsoft Office PowerPoint</Application>
  <PresentationFormat>Personalizado</PresentationFormat>
  <Paragraphs>58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Solomon Sans</vt:lpstr>
      <vt:lpstr>Solomon Sans Bold</vt:lpstr>
      <vt:lpstr>Poppins Bold</vt:lpstr>
      <vt:lpstr>Lustria</vt:lpstr>
      <vt:lpstr>Arial</vt:lpstr>
      <vt:lpstr>Poppins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Green Modern Simple Healthy Food Presentation</dc:title>
  <cp:lastModifiedBy>PATRICIO . LEIVA FERRER</cp:lastModifiedBy>
  <cp:revision>4</cp:revision>
  <dcterms:created xsi:type="dcterms:W3CDTF">2006-08-16T00:00:00Z</dcterms:created>
  <dcterms:modified xsi:type="dcterms:W3CDTF">2026-10-12T03:48:45Z</dcterms:modified>
  <dc:identifier>DAHUXxu_veY</dc:identifier>
</cp:coreProperties>
</file>